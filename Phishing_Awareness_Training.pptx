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856" autoAdjust="0"/>
  </p:normalViewPr>
  <p:slideViewPr>
    <p:cSldViewPr snapToGrid="0" snapToObjects="1">
      <p:cViewPr varScale="1">
        <p:scale>
          <a:sx n="77" d="100"/>
          <a:sy n="77" d="100"/>
        </p:scale>
        <p:origin x="883"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5496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1 (Title)</a:t>
            </a:r>
          </a:p>
          <a:p>
            <a:endParaRPr/>
          </a:p>
          <a:p>
            <a:r>
              <a:t>Welcome everyone to this Phishing Awareness Training session.</a:t>
            </a:r>
          </a:p>
          <a:p>
            <a:r>
              <a:t>Start by asking: 'Has anyone ever received a suspicious email or text message that seemed off?'</a:t>
            </a:r>
          </a:p>
          <a:p>
            <a:r>
              <a:t>Explain that phishing is one of the most common cyber threats in the world today, and that by the end of this training, everyone will know how to spot it and stay safe.</a:t>
            </a:r>
          </a:p>
          <a:p>
            <a:r>
              <a:t>Emphasize: this training is purely defensive — to protect you and your accounts.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2 (Learning Objectives)</a:t>
            </a:r>
          </a:p>
          <a:p>
            <a:endParaRPr/>
          </a:p>
          <a:p>
            <a:r>
              <a:t>Walk through each objective briefly.</a:t>
            </a:r>
          </a:p>
          <a:p>
            <a:r>
              <a:t>Tell learners: 'By the time we finish, you will be able to look at a suspicious email or website and know exactly what to check and what to do.'</a:t>
            </a:r>
          </a:p>
          <a:p>
            <a:r>
              <a:t>Mention the quiz at the end — it is not graded, just a way to check understanding.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3 (What Is Phishing?)</a:t>
            </a:r>
          </a:p>
          <a:p>
            <a:endParaRPr/>
          </a:p>
          <a:p>
            <a:r>
              <a:t>Read the definition aloud then explain it simply:</a:t>
            </a:r>
          </a:p>
          <a:p>
            <a:r>
              <a:t>'Phishing is basically digital impersonation. The attacker pretends to be your bank, your boss, or a delivery company to get you to hand over valuable information.'</a:t>
            </a:r>
          </a:p>
          <a:p>
            <a:r>
              <a:t>Ask the group: 'Which of these pieces of information do you think attackers target most often?'</a:t>
            </a:r>
          </a:p>
          <a:p>
            <a:r>
              <a:t>Answer: all of them — it depends on the goal of the attack.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4 (Types of Phishing)</a:t>
            </a:r>
          </a:p>
          <a:p>
            <a:endParaRPr/>
          </a:p>
          <a:p>
            <a:r>
              <a:t>Email phishing is the most common. Spear phishing is the most dangerous because it is personalised.</a:t>
            </a:r>
          </a:p>
          <a:p>
            <a:r>
              <a:t>Smishing: 'Have you ever received a text saying your package is held and you must pay a fee?'</a:t>
            </a:r>
          </a:p>
          <a:p>
            <a:r>
              <a:t>Vishing: 'Attackers call pretending to be your bank's fraud team and ask you to confirm your card.'</a:t>
            </a:r>
          </a:p>
          <a:p>
            <a:r>
              <a:t>Fake login pages: often reached through email or text links — they look identical to the real site.</a:t>
            </a:r>
          </a:p>
          <a:p>
            <a:r>
              <a:t>Social media: fake profiles, fake giveaways, compromised accounts of real friends.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5 (Warning Signs in Emails)</a:t>
            </a:r>
          </a:p>
          <a:p>
            <a:endParaRPr/>
          </a:p>
          <a:p>
            <a:r>
              <a:t>Walk through each item. Demonstrate the 'hover over links' technique:</a:t>
            </a:r>
          </a:p>
          <a:p>
            <a:r>
              <a:t>'If the link says paypal.com but hovering shows paypa1-secure.net — that's a phishing link.'</a:t>
            </a:r>
          </a:p>
          <a:p>
            <a:r>
              <a:t>Sender address example: the display name may say 'PayPal Support' but the actual email address is something like noreply@payp4l-billing.com.</a:t>
            </a:r>
          </a:p>
          <a:p>
            <a:r>
              <a:t>Stress: real banks and companies will NEVER ask for your password, PIN, or OTP via email.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6 (Fake Websites)</a:t>
            </a:r>
          </a:p>
          <a:p>
            <a:endParaRPr/>
          </a:p>
          <a:p>
            <a:r>
              <a:t>Show the URL comparison and ask learners to spot the difference between the two.</a:t>
            </a:r>
          </a:p>
          <a:p>
            <a:r>
              <a:t>Key point on HTTPS: 'The padlock means the connection is encrypted — it does NOT mean the website is trustworthy. Scammers can easily get HTTPS certificates for fake domains.'</a:t>
            </a:r>
          </a:p>
          <a:p>
            <a:r>
              <a:t>Typosquatting demo: write 'paypal.com' vs 'paypa1.com' on a whiteboard — the digit 1 vs letter l.</a:t>
            </a:r>
          </a:p>
          <a:p>
            <a:r>
              <a:t>Best habit: bookmark important websites, or type the address manually.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7 (Social Engineering)</a:t>
            </a:r>
          </a:p>
          <a:p>
            <a:endParaRPr/>
          </a:p>
          <a:p>
            <a:r>
              <a:t>Explain that phishing is not just a technical attack — it is a psychological one.</a:t>
            </a:r>
          </a:p>
          <a:p>
            <a:r>
              <a:t>The goal is to bypass logical thinking by triggering an emotional reaction.</a:t>
            </a:r>
          </a:p>
          <a:p>
            <a:r>
              <a:t>Fear &amp; Urgency: 'When you feel panicked, you act fast and skip checking. That's what they want.'</a:t>
            </a:r>
          </a:p>
          <a:p>
            <a:r>
              <a:t>Authority: 'Attackers impersonate IT, managers, banks, or even government agencies.'</a:t>
            </a:r>
          </a:p>
          <a:p>
            <a:r>
              <a:t>Trust: 'They may hack a friend's account and send messages from it to their contacts.'</a:t>
            </a:r>
          </a:p>
          <a:p>
            <a:r>
              <a:t>KEY MESSAGE: Slow down. Real emergencies from real companies have proper verification channels.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8 (Best Practices)</a:t>
            </a:r>
          </a:p>
          <a:p>
            <a:endParaRPr/>
          </a:p>
          <a:p>
            <a:r>
              <a:t>Go through each numbered item and give a quick real-world context.</a:t>
            </a:r>
          </a:p>
          <a:p>
            <a:r>
              <a:t>#3 — OTP codes: 'If someone calls you saying they are from your bank and asks for the code that just arrived on your phone — hang up. That is a classic vishing + OTP theft combo.'</a:t>
            </a:r>
          </a:p>
          <a:p>
            <a:r>
              <a:t>#4 — MFA: 'Even if an attacker gets your password from a phishing page, they still cannot log in without the second factor — unless you give it to them.'</a:t>
            </a:r>
          </a:p>
          <a:p>
            <a:r>
              <a:t>#6 — Report: 'Reporting helps protect everyone. Your IT team can block the phishing domain '</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9 (Real-World Examples)</a:t>
            </a:r>
          </a:p>
          <a:p>
            <a:endParaRPr/>
          </a:p>
          <a:p>
            <a:r>
              <a:t>Go through each example and ask learners to spot the red flags BEFORE you reveal them.</a:t>
            </a:r>
          </a:p>
          <a:p>
            <a:endParaRPr/>
          </a:p>
          <a:p>
            <a:r>
              <a:t>Bank email: 'What's wrong with this message?' — Generic greeting, urgency, link instead of official site.</a:t>
            </a:r>
          </a:p>
          <a:p>
            <a:endParaRPr/>
          </a:p>
          <a:p>
            <a:r>
              <a:t>Delivery SMS: 'Why is this suspicious?' — Real delivery companies don't ask for payment via a text link. The shortened URL hides the real destination.</a:t>
            </a:r>
          </a:p>
          <a:p>
            <a:endParaRPr/>
          </a:p>
          <a:p>
            <a:r>
              <a:t>Fake login page: 'Look at the URL — micros0ft with a zero, not the letter O. And the domain is verify-account.net, not microsoft.com.'</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10 (Quiz &amp; Summary)</a:t>
            </a:r>
          </a:p>
          <a:p>
            <a:endParaRPr/>
          </a:p>
          <a:p>
            <a:r>
              <a:t>Give learners 30–60 seconds per question before revealing the answer.</a:t>
            </a:r>
          </a:p>
          <a:p>
            <a:endParaRPr/>
          </a:p>
          <a:p>
            <a:r>
              <a:t>After the quiz, deliver the final key messages:</a:t>
            </a:r>
          </a:p>
          <a:p>
            <a:r>
              <a:t>1. Phishing is one of the most common and effective cyber attacks today.</a:t>
            </a:r>
          </a:p>
          <a:p>
            <a:r>
              <a:t>2. It targets human psychology — not just technology.</a:t>
            </a:r>
          </a:p>
          <a:p>
            <a:r>
              <a:t>3. Slow down, check the sender, inspect URLs, and NEVER share passwords or OTP codes.</a:t>
            </a:r>
          </a:p>
          <a:p>
            <a:r>
              <a:t>4. Use MFA on every important account.</a:t>
            </a:r>
          </a:p>
          <a:p>
            <a:r>
              <a:t>5. Report anything suspicious to your IT/security team.</a:t>
            </a:r>
          </a:p>
          <a:p>
            <a:endParaRPr/>
          </a:p>
          <a:p>
            <a:r>
              <a:t>ETHICAL REMINDER:</a:t>
            </a:r>
          </a:p>
          <a:p>
            <a:r>
              <a:t>This knowledge is for YOUR protection. Never use these techniques to deceive or harm others.</a:t>
            </a:r>
          </a:p>
          <a:p>
            <a:r>
              <a:t>Phishing attacks are illegal in most countries and violate computer crime laws.</a:t>
            </a:r>
          </a:p>
          <a:p>
            <a:endParaRPr/>
          </a:p>
          <a:p>
            <a:r>
              <a:t>Thank everyone for attending. Encourage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4848"/>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0" y="1097280"/>
            <a:ext cx="3657600" cy="3657600"/>
          </a:xfrm>
          <a:prstGeom prst="rect">
            <a:avLst/>
          </a:prstGeom>
          <a:noFill/>
        </p:spPr>
        <p:txBody>
          <a:bodyPr wrap="square">
            <a:spAutoFit/>
          </a:bodyPr>
          <a:lstStyle/>
          <a:p>
            <a:pPr algn="ctr"/>
            <a:r>
              <a:rPr sz="16000" b="0" i="0">
                <a:solidFill>
                  <a:srgbClr val="1C242E"/>
                </a:solidFill>
              </a:rPr>
              <a:t>🎣</a:t>
            </a:r>
          </a:p>
        </p:txBody>
      </p:sp>
      <p:sp>
        <p:nvSpPr>
          <p:cNvPr id="5" name="Rectangle 4"/>
          <p:cNvSpPr/>
          <p:nvPr/>
        </p:nvSpPr>
        <p:spPr>
          <a:xfrm>
            <a:off x="640080" y="1005840"/>
            <a:ext cx="2926080" cy="384048"/>
          </a:xfrm>
          <a:prstGeom prst="rect">
            <a:avLst/>
          </a:prstGeom>
          <a:solidFill>
            <a:srgbClr val="1A3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86987" y="1034832"/>
            <a:ext cx="2743200" cy="307777"/>
          </a:xfrm>
          <a:prstGeom prst="rect">
            <a:avLst/>
          </a:prstGeom>
          <a:noFill/>
        </p:spPr>
        <p:txBody>
          <a:bodyPr wrap="square">
            <a:spAutoFit/>
          </a:bodyPr>
          <a:lstStyle/>
          <a:p>
            <a:pPr algn="l"/>
            <a:r>
              <a:rPr sz="1400" b="1" i="0" dirty="0">
                <a:solidFill>
                  <a:srgbClr val="58A6FF"/>
                </a:solidFill>
              </a:rPr>
              <a:t>🔐  CYBERSECURITY</a:t>
            </a:r>
          </a:p>
        </p:txBody>
      </p:sp>
      <p:sp>
        <p:nvSpPr>
          <p:cNvPr id="7" name="TextBox 6"/>
          <p:cNvSpPr txBox="1"/>
          <p:nvPr/>
        </p:nvSpPr>
        <p:spPr>
          <a:xfrm>
            <a:off x="640080" y="1554480"/>
            <a:ext cx="8229600" cy="1645920"/>
          </a:xfrm>
          <a:prstGeom prst="rect">
            <a:avLst/>
          </a:prstGeom>
          <a:noFill/>
        </p:spPr>
        <p:txBody>
          <a:bodyPr wrap="square">
            <a:spAutoFit/>
          </a:bodyPr>
          <a:lstStyle/>
          <a:p>
            <a:pPr algn="l"/>
            <a:r>
              <a:rPr sz="5400" b="1" i="0" dirty="0">
                <a:solidFill>
                  <a:srgbClr val="FFFFFF"/>
                </a:solidFill>
              </a:rPr>
              <a:t>Phishing Awareness
Training</a:t>
            </a:r>
          </a:p>
        </p:txBody>
      </p:sp>
      <p:sp>
        <p:nvSpPr>
          <p:cNvPr id="8" name="TextBox 7"/>
          <p:cNvSpPr txBox="1"/>
          <p:nvPr/>
        </p:nvSpPr>
        <p:spPr>
          <a:xfrm>
            <a:off x="640080" y="3246120"/>
            <a:ext cx="8229600" cy="548640"/>
          </a:xfrm>
          <a:prstGeom prst="rect">
            <a:avLst/>
          </a:prstGeom>
          <a:noFill/>
        </p:spPr>
        <p:txBody>
          <a:bodyPr wrap="square">
            <a:spAutoFit/>
          </a:bodyPr>
          <a:lstStyle/>
          <a:p>
            <a:pPr algn="l"/>
            <a:r>
              <a:rPr sz="2000" b="0" i="0">
                <a:solidFill>
                  <a:srgbClr val="8B949E"/>
                </a:solidFill>
              </a:rPr>
              <a:t>How to Recognize, Avoid, and Report Phishing Attacks</a:t>
            </a:r>
          </a:p>
        </p:txBody>
      </p:sp>
      <p:sp>
        <p:nvSpPr>
          <p:cNvPr id="9" name="Rectangle 8"/>
          <p:cNvSpPr/>
          <p:nvPr/>
        </p:nvSpPr>
        <p:spPr>
          <a:xfrm>
            <a:off x="640080" y="3886200"/>
            <a:ext cx="3657600" cy="4572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4023360"/>
            <a:ext cx="8229600" cy="276999"/>
          </a:xfrm>
          <a:prstGeom prst="rect">
            <a:avLst/>
          </a:prstGeom>
          <a:noFill/>
        </p:spPr>
        <p:txBody>
          <a:bodyPr wrap="square">
            <a:spAutoFit/>
          </a:bodyPr>
          <a:lstStyle/>
          <a:p>
            <a:pPr algn="l"/>
            <a:r>
              <a:rPr sz="1200" b="0" i="0" dirty="0" err="1">
                <a:solidFill>
                  <a:srgbClr val="8B949E"/>
                </a:solidFill>
              </a:rPr>
              <a:t>C</a:t>
            </a:r>
            <a:r>
              <a:rPr lang="en-US" sz="1200" b="0" i="0" dirty="0" err="1">
                <a:solidFill>
                  <a:srgbClr val="8B949E"/>
                </a:solidFill>
              </a:rPr>
              <a:t>odeAlpha</a:t>
            </a:r>
            <a:r>
              <a:rPr lang="en-US" sz="1200" b="0" i="0" dirty="0">
                <a:solidFill>
                  <a:srgbClr val="8B949E"/>
                </a:solidFill>
              </a:rPr>
              <a:t> Internship</a:t>
            </a:r>
            <a:r>
              <a:rPr sz="1200" b="0" i="0" dirty="0">
                <a:solidFill>
                  <a:srgbClr val="8B949E"/>
                </a:solidFill>
              </a:rPr>
              <a:t>  ·  Abd</a:t>
            </a:r>
            <a:r>
              <a:rPr lang="en-US" sz="1200" b="0" i="0" dirty="0">
                <a:solidFill>
                  <a:srgbClr val="8B949E"/>
                </a:solidFill>
              </a:rPr>
              <a:t>elrhman Mostafa</a:t>
            </a:r>
            <a:r>
              <a:rPr sz="1200" b="0" i="0" dirty="0">
                <a:solidFill>
                  <a:srgbClr val="8B949E"/>
                </a:solidFill>
              </a:rPr>
              <a:t> ·  2026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a:solidFill>
                  <a:srgbClr val="FFFFFF"/>
                </a:solidFill>
              </a:rPr>
              <a:t>🎯  Learning Objectives</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What you will know by the end of this training</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11274552" cy="50292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1000232" cy="2554545"/>
          </a:xfrm>
          <a:prstGeom prst="rect">
            <a:avLst/>
          </a:prstGeom>
          <a:noFill/>
        </p:spPr>
        <p:txBody>
          <a:bodyPr wrap="square">
            <a:spAutoFit/>
          </a:bodyPr>
          <a:lstStyle/>
          <a:p>
            <a:pPr algn="l">
              <a:spcBef>
                <a:spcPts val="400"/>
              </a:spcBef>
            </a:pPr>
            <a:r>
              <a:rPr sz="2000" dirty="0">
                <a:solidFill>
                  <a:srgbClr val="FFFFFF"/>
                </a:solidFill>
              </a:rPr>
              <a:t>  ✅  Define phishing and explain why it is dangerous</a:t>
            </a:r>
          </a:p>
          <a:p>
            <a:pPr algn="l">
              <a:spcBef>
                <a:spcPts val="400"/>
              </a:spcBef>
            </a:pPr>
            <a:r>
              <a:rPr sz="2000" dirty="0">
                <a:solidFill>
                  <a:srgbClr val="FFFFFF"/>
                </a:solidFill>
              </a:rPr>
              <a:t>  ✅  Identify the 6 main types of phishing attacks</a:t>
            </a:r>
          </a:p>
          <a:p>
            <a:pPr algn="l">
              <a:spcBef>
                <a:spcPts val="400"/>
              </a:spcBef>
            </a:pPr>
            <a:r>
              <a:rPr sz="2000" dirty="0">
                <a:solidFill>
                  <a:srgbClr val="FFFFFF"/>
                </a:solidFill>
              </a:rPr>
              <a:t>  ✅  Spot warning signs in suspicious emails and messages</a:t>
            </a:r>
          </a:p>
          <a:p>
            <a:pPr algn="l">
              <a:spcBef>
                <a:spcPts val="400"/>
              </a:spcBef>
            </a:pPr>
            <a:r>
              <a:rPr sz="2000" dirty="0">
                <a:solidFill>
                  <a:srgbClr val="FFFFFF"/>
                </a:solidFill>
              </a:rPr>
              <a:t>  ✅  Recognize fake websites and fraudulent login pages</a:t>
            </a:r>
          </a:p>
          <a:p>
            <a:pPr algn="l">
              <a:spcBef>
                <a:spcPts val="400"/>
              </a:spcBef>
            </a:pPr>
            <a:r>
              <a:rPr sz="2000" dirty="0">
                <a:solidFill>
                  <a:srgbClr val="FFFFFF"/>
                </a:solidFill>
              </a:rPr>
              <a:t>  ✅  Understand social engineering tactics attackers use</a:t>
            </a:r>
          </a:p>
          <a:p>
            <a:pPr algn="l">
              <a:spcBef>
                <a:spcPts val="400"/>
              </a:spcBef>
            </a:pPr>
            <a:r>
              <a:rPr sz="2000" dirty="0">
                <a:solidFill>
                  <a:srgbClr val="FFFFFF"/>
                </a:solidFill>
              </a:rPr>
              <a:t>  ✅  Apply best practices to protect your accounts and data</a:t>
            </a:r>
          </a:p>
          <a:p>
            <a:pPr algn="l">
              <a:spcBef>
                <a:spcPts val="400"/>
              </a:spcBef>
            </a:pPr>
            <a:r>
              <a:rPr sz="2000" dirty="0">
                <a:solidFill>
                  <a:srgbClr val="FFFFFF"/>
                </a:solidFill>
              </a:rPr>
              <a:t>  ✅  Complete a quiz to test your new knowledge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a:solidFill>
                  <a:srgbClr val="FFFFFF"/>
                </a:solidFill>
              </a:rPr>
              <a:t>🎣  What Is Phishing?</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A cyber attack that tricks people into giving up sensitive data</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11274552" cy="1234440"/>
          </a:xfrm>
          <a:prstGeom prst="rect">
            <a:avLst/>
          </a:prstGeom>
          <a:solidFill>
            <a:srgbClr val="1A3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417320"/>
            <a:ext cx="109728" cy="123444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9452" y="1691640"/>
            <a:ext cx="10789920" cy="1051560"/>
          </a:xfrm>
          <a:prstGeom prst="rect">
            <a:avLst/>
          </a:prstGeom>
          <a:noFill/>
        </p:spPr>
        <p:txBody>
          <a:bodyPr wrap="square">
            <a:spAutoFit/>
          </a:bodyPr>
          <a:lstStyle/>
          <a:p>
            <a:pPr algn="l"/>
            <a:r>
              <a:rPr sz="1700" b="0" i="0" dirty="0">
                <a:solidFill>
                  <a:srgbClr val="FFFFFF"/>
                </a:solidFill>
              </a:rPr>
              <a:t>Phishing is a type of social engineering attack where cybercriminals disguise themselves
as trusted entities to steal passwords, bank details, OTP codes, or personal information.</a:t>
            </a:r>
          </a:p>
        </p:txBody>
      </p:sp>
      <p:sp>
        <p:nvSpPr>
          <p:cNvPr id="9" name="TextBox 8"/>
          <p:cNvSpPr txBox="1"/>
          <p:nvPr/>
        </p:nvSpPr>
        <p:spPr>
          <a:xfrm>
            <a:off x="457200" y="2834640"/>
            <a:ext cx="10972800" cy="365760"/>
          </a:xfrm>
          <a:prstGeom prst="rect">
            <a:avLst/>
          </a:prstGeom>
          <a:noFill/>
        </p:spPr>
        <p:txBody>
          <a:bodyPr wrap="square">
            <a:spAutoFit/>
          </a:bodyPr>
          <a:lstStyle/>
          <a:p>
            <a:pPr algn="l"/>
            <a:r>
              <a:rPr sz="1500" b="1" i="0">
                <a:solidFill>
                  <a:srgbClr val="8B949E"/>
                </a:solidFill>
              </a:rPr>
              <a:t>What Attackers Try to Steal:</a:t>
            </a:r>
          </a:p>
        </p:txBody>
      </p:sp>
      <p:sp>
        <p:nvSpPr>
          <p:cNvPr id="10" name="Rectangle 9"/>
          <p:cNvSpPr/>
          <p:nvPr/>
        </p:nvSpPr>
        <p:spPr>
          <a:xfrm>
            <a:off x="457200" y="3246120"/>
            <a:ext cx="2103120" cy="1463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3246120"/>
            <a:ext cx="2103120" cy="54864"/>
          </a:xfrm>
          <a:prstGeom prst="rect">
            <a:avLst/>
          </a:prstGeom>
          <a:solidFill>
            <a:srgbClr val="F85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3364992"/>
            <a:ext cx="2103120" cy="548640"/>
          </a:xfrm>
          <a:prstGeom prst="rect">
            <a:avLst/>
          </a:prstGeom>
          <a:noFill/>
        </p:spPr>
        <p:txBody>
          <a:bodyPr wrap="square">
            <a:spAutoFit/>
          </a:bodyPr>
          <a:lstStyle/>
          <a:p>
            <a:pPr algn="ctr"/>
            <a:r>
              <a:rPr sz="3000" b="0" i="0">
                <a:solidFill>
                  <a:srgbClr val="FFFFFF"/>
                </a:solidFill>
              </a:rPr>
              <a:t>🔑</a:t>
            </a:r>
          </a:p>
        </p:txBody>
      </p:sp>
      <p:sp>
        <p:nvSpPr>
          <p:cNvPr id="13" name="TextBox 12"/>
          <p:cNvSpPr txBox="1"/>
          <p:nvPr/>
        </p:nvSpPr>
        <p:spPr>
          <a:xfrm>
            <a:off x="457200" y="3950208"/>
            <a:ext cx="2103120" cy="685800"/>
          </a:xfrm>
          <a:prstGeom prst="rect">
            <a:avLst/>
          </a:prstGeom>
          <a:noFill/>
        </p:spPr>
        <p:txBody>
          <a:bodyPr wrap="square">
            <a:spAutoFit/>
          </a:bodyPr>
          <a:lstStyle/>
          <a:p>
            <a:pPr algn="ctr"/>
            <a:r>
              <a:rPr sz="1400" b="1" i="0">
                <a:solidFill>
                  <a:srgbClr val="FFFFFF"/>
                </a:solidFill>
              </a:rPr>
              <a:t>Passwords &amp;
PIN Codes</a:t>
            </a:r>
          </a:p>
        </p:txBody>
      </p:sp>
      <p:sp>
        <p:nvSpPr>
          <p:cNvPr id="14" name="Rectangle 13"/>
          <p:cNvSpPr/>
          <p:nvPr/>
        </p:nvSpPr>
        <p:spPr>
          <a:xfrm>
            <a:off x="2706624" y="3246120"/>
            <a:ext cx="2103120" cy="1463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706624" y="3246120"/>
            <a:ext cx="2103120" cy="54864"/>
          </a:xfrm>
          <a:prstGeom prst="rect">
            <a:avLst/>
          </a:prstGeom>
          <a:solidFill>
            <a:srgbClr val="E3B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06624" y="3364992"/>
            <a:ext cx="2103120" cy="548640"/>
          </a:xfrm>
          <a:prstGeom prst="rect">
            <a:avLst/>
          </a:prstGeom>
          <a:noFill/>
        </p:spPr>
        <p:txBody>
          <a:bodyPr wrap="square">
            <a:spAutoFit/>
          </a:bodyPr>
          <a:lstStyle/>
          <a:p>
            <a:pPr algn="ctr"/>
            <a:r>
              <a:rPr sz="3000" b="0" i="0">
                <a:solidFill>
                  <a:srgbClr val="FFFFFF"/>
                </a:solidFill>
              </a:rPr>
              <a:t>🏦</a:t>
            </a:r>
          </a:p>
        </p:txBody>
      </p:sp>
      <p:sp>
        <p:nvSpPr>
          <p:cNvPr id="17" name="TextBox 16"/>
          <p:cNvSpPr txBox="1"/>
          <p:nvPr/>
        </p:nvSpPr>
        <p:spPr>
          <a:xfrm>
            <a:off x="2706624" y="3950208"/>
            <a:ext cx="2103120" cy="685800"/>
          </a:xfrm>
          <a:prstGeom prst="rect">
            <a:avLst/>
          </a:prstGeom>
          <a:noFill/>
        </p:spPr>
        <p:txBody>
          <a:bodyPr wrap="square">
            <a:spAutoFit/>
          </a:bodyPr>
          <a:lstStyle/>
          <a:p>
            <a:pPr algn="ctr"/>
            <a:r>
              <a:rPr sz="1400" b="1" i="0">
                <a:solidFill>
                  <a:srgbClr val="FFFFFF"/>
                </a:solidFill>
              </a:rPr>
              <a:t>Bank &amp;
Card Details</a:t>
            </a:r>
          </a:p>
        </p:txBody>
      </p:sp>
      <p:sp>
        <p:nvSpPr>
          <p:cNvPr id="18" name="Rectangle 17"/>
          <p:cNvSpPr/>
          <p:nvPr/>
        </p:nvSpPr>
        <p:spPr>
          <a:xfrm>
            <a:off x="4956048" y="3246120"/>
            <a:ext cx="2103120" cy="1463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956048" y="3246120"/>
            <a:ext cx="2103120" cy="54864"/>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56048" y="3364992"/>
            <a:ext cx="2103120" cy="548640"/>
          </a:xfrm>
          <a:prstGeom prst="rect">
            <a:avLst/>
          </a:prstGeom>
          <a:noFill/>
        </p:spPr>
        <p:txBody>
          <a:bodyPr wrap="square">
            <a:spAutoFit/>
          </a:bodyPr>
          <a:lstStyle/>
          <a:p>
            <a:pPr algn="ctr"/>
            <a:r>
              <a:rPr sz="3000" b="0" i="0">
                <a:solidFill>
                  <a:srgbClr val="FFFFFF"/>
                </a:solidFill>
              </a:rPr>
              <a:t>📱</a:t>
            </a:r>
          </a:p>
        </p:txBody>
      </p:sp>
      <p:sp>
        <p:nvSpPr>
          <p:cNvPr id="21" name="TextBox 20"/>
          <p:cNvSpPr txBox="1"/>
          <p:nvPr/>
        </p:nvSpPr>
        <p:spPr>
          <a:xfrm>
            <a:off x="4956048" y="3950208"/>
            <a:ext cx="2103120" cy="685800"/>
          </a:xfrm>
          <a:prstGeom prst="rect">
            <a:avLst/>
          </a:prstGeom>
          <a:noFill/>
        </p:spPr>
        <p:txBody>
          <a:bodyPr wrap="square">
            <a:spAutoFit/>
          </a:bodyPr>
          <a:lstStyle/>
          <a:p>
            <a:pPr algn="ctr"/>
            <a:r>
              <a:rPr sz="1400" b="1" i="0">
                <a:solidFill>
                  <a:srgbClr val="FFFFFF"/>
                </a:solidFill>
              </a:rPr>
              <a:t>OTP Codes &amp;
2FA Tokens</a:t>
            </a:r>
          </a:p>
        </p:txBody>
      </p:sp>
      <p:sp>
        <p:nvSpPr>
          <p:cNvPr id="22" name="Rectangle 21"/>
          <p:cNvSpPr/>
          <p:nvPr/>
        </p:nvSpPr>
        <p:spPr>
          <a:xfrm>
            <a:off x="7205472" y="3246120"/>
            <a:ext cx="2103120" cy="1463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205472" y="3246120"/>
            <a:ext cx="2103120" cy="54864"/>
          </a:xfrm>
          <a:prstGeom prst="rect">
            <a:avLst/>
          </a:prstGeom>
          <a:solidFill>
            <a:srgbClr val="3FB9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205472" y="3364992"/>
            <a:ext cx="2103120" cy="548640"/>
          </a:xfrm>
          <a:prstGeom prst="rect">
            <a:avLst/>
          </a:prstGeom>
          <a:noFill/>
        </p:spPr>
        <p:txBody>
          <a:bodyPr wrap="square">
            <a:spAutoFit/>
          </a:bodyPr>
          <a:lstStyle/>
          <a:p>
            <a:pPr algn="ctr"/>
            <a:r>
              <a:rPr sz="3000" b="0" i="0">
                <a:solidFill>
                  <a:srgbClr val="FFFFFF"/>
                </a:solidFill>
              </a:rPr>
              <a:t>🪪</a:t>
            </a:r>
          </a:p>
        </p:txBody>
      </p:sp>
      <p:sp>
        <p:nvSpPr>
          <p:cNvPr id="25" name="TextBox 24"/>
          <p:cNvSpPr txBox="1"/>
          <p:nvPr/>
        </p:nvSpPr>
        <p:spPr>
          <a:xfrm>
            <a:off x="7205472" y="3950208"/>
            <a:ext cx="2103120" cy="685800"/>
          </a:xfrm>
          <a:prstGeom prst="rect">
            <a:avLst/>
          </a:prstGeom>
          <a:noFill/>
        </p:spPr>
        <p:txBody>
          <a:bodyPr wrap="square">
            <a:spAutoFit/>
          </a:bodyPr>
          <a:lstStyle/>
          <a:p>
            <a:pPr algn="ctr"/>
            <a:r>
              <a:rPr sz="1400" b="1" i="0">
                <a:solidFill>
                  <a:srgbClr val="FFFFFF"/>
                </a:solidFill>
              </a:rPr>
              <a:t>Personal ID &amp;
SSN / NID</a:t>
            </a:r>
          </a:p>
        </p:txBody>
      </p:sp>
      <p:sp>
        <p:nvSpPr>
          <p:cNvPr id="26" name="Rectangle 25"/>
          <p:cNvSpPr/>
          <p:nvPr/>
        </p:nvSpPr>
        <p:spPr>
          <a:xfrm>
            <a:off x="9454896" y="3246120"/>
            <a:ext cx="2103120" cy="1463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454896" y="3246120"/>
            <a:ext cx="2103120" cy="54864"/>
          </a:xfrm>
          <a:prstGeom prst="rect">
            <a:avLst/>
          </a:prstGeom>
          <a:solidFill>
            <a:srgbClr val="BC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454896" y="3364992"/>
            <a:ext cx="2103120" cy="548640"/>
          </a:xfrm>
          <a:prstGeom prst="rect">
            <a:avLst/>
          </a:prstGeom>
          <a:noFill/>
        </p:spPr>
        <p:txBody>
          <a:bodyPr wrap="square">
            <a:spAutoFit/>
          </a:bodyPr>
          <a:lstStyle/>
          <a:p>
            <a:pPr algn="ctr"/>
            <a:r>
              <a:rPr sz="3000" b="0" i="0">
                <a:solidFill>
                  <a:srgbClr val="FFFFFF"/>
                </a:solidFill>
              </a:rPr>
              <a:t>💼</a:t>
            </a:r>
          </a:p>
        </p:txBody>
      </p:sp>
      <p:sp>
        <p:nvSpPr>
          <p:cNvPr id="29" name="TextBox 28"/>
          <p:cNvSpPr txBox="1"/>
          <p:nvPr/>
        </p:nvSpPr>
        <p:spPr>
          <a:xfrm>
            <a:off x="9454896" y="3950208"/>
            <a:ext cx="2103120" cy="685800"/>
          </a:xfrm>
          <a:prstGeom prst="rect">
            <a:avLst/>
          </a:prstGeom>
          <a:noFill/>
        </p:spPr>
        <p:txBody>
          <a:bodyPr wrap="square">
            <a:spAutoFit/>
          </a:bodyPr>
          <a:lstStyle/>
          <a:p>
            <a:pPr algn="ctr"/>
            <a:r>
              <a:rPr sz="1400" b="1" i="0">
                <a:solidFill>
                  <a:srgbClr val="FFFFFF"/>
                </a:solidFill>
              </a:rPr>
              <a:t>Company &amp;
Employee Data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dirty="0">
                <a:solidFill>
                  <a:srgbClr val="FFFFFF"/>
                </a:solidFill>
              </a:rPr>
              <a:t>📨  Types of Phishing Attacks</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Attackers use many channels — not just email</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342900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417320"/>
            <a:ext cx="3429000" cy="6400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581912"/>
            <a:ext cx="640080" cy="640080"/>
          </a:xfrm>
          <a:prstGeom prst="rect">
            <a:avLst/>
          </a:prstGeom>
          <a:noFill/>
        </p:spPr>
        <p:txBody>
          <a:bodyPr wrap="square">
            <a:spAutoFit/>
          </a:bodyPr>
          <a:lstStyle/>
          <a:p>
            <a:pPr algn="l"/>
            <a:r>
              <a:rPr sz="2600" b="0" i="0">
                <a:solidFill>
                  <a:srgbClr val="FFFFFF"/>
                </a:solidFill>
              </a:rPr>
              <a:t>📧</a:t>
            </a:r>
          </a:p>
        </p:txBody>
      </p:sp>
      <p:sp>
        <p:nvSpPr>
          <p:cNvPr id="9" name="TextBox 8"/>
          <p:cNvSpPr txBox="1"/>
          <p:nvPr/>
        </p:nvSpPr>
        <p:spPr>
          <a:xfrm>
            <a:off x="1078865" y="1650492"/>
            <a:ext cx="3108960" cy="502920"/>
          </a:xfrm>
          <a:prstGeom prst="rect">
            <a:avLst/>
          </a:prstGeom>
          <a:noFill/>
        </p:spPr>
        <p:txBody>
          <a:bodyPr wrap="square">
            <a:spAutoFit/>
          </a:bodyPr>
          <a:lstStyle/>
          <a:p>
            <a:pPr algn="l"/>
            <a:r>
              <a:rPr sz="1500" b="1" i="0" dirty="0">
                <a:solidFill>
                  <a:srgbClr val="58A6FF"/>
                </a:solidFill>
              </a:rPr>
              <a:t>Email Phishing</a:t>
            </a:r>
          </a:p>
        </p:txBody>
      </p:sp>
      <p:sp>
        <p:nvSpPr>
          <p:cNvPr id="10" name="TextBox 9"/>
          <p:cNvSpPr txBox="1"/>
          <p:nvPr/>
        </p:nvSpPr>
        <p:spPr>
          <a:xfrm>
            <a:off x="594360" y="2167128"/>
            <a:ext cx="3154680" cy="1097280"/>
          </a:xfrm>
          <a:prstGeom prst="rect">
            <a:avLst/>
          </a:prstGeom>
          <a:noFill/>
        </p:spPr>
        <p:txBody>
          <a:bodyPr wrap="square">
            <a:spAutoFit/>
          </a:bodyPr>
          <a:lstStyle/>
          <a:p>
            <a:pPr algn="l"/>
            <a:r>
              <a:rPr sz="1300" b="0" i="0">
                <a:solidFill>
                  <a:srgbClr val="8B949E"/>
                </a:solidFill>
              </a:rPr>
              <a:t>Bulk fake emails from fake senders (most common type)</a:t>
            </a:r>
          </a:p>
        </p:txBody>
      </p:sp>
      <p:sp>
        <p:nvSpPr>
          <p:cNvPr id="11" name="Rectangle 10"/>
          <p:cNvSpPr/>
          <p:nvPr/>
        </p:nvSpPr>
        <p:spPr>
          <a:xfrm>
            <a:off x="4069080" y="1417320"/>
            <a:ext cx="342900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069080" y="1417320"/>
            <a:ext cx="3429000" cy="64008"/>
          </a:xfrm>
          <a:prstGeom prst="rect">
            <a:avLst/>
          </a:prstGeom>
          <a:solidFill>
            <a:srgbClr val="F85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06240" y="1581912"/>
            <a:ext cx="640080" cy="640080"/>
          </a:xfrm>
          <a:prstGeom prst="rect">
            <a:avLst/>
          </a:prstGeom>
          <a:noFill/>
        </p:spPr>
        <p:txBody>
          <a:bodyPr wrap="square">
            <a:spAutoFit/>
          </a:bodyPr>
          <a:lstStyle/>
          <a:p>
            <a:pPr algn="l"/>
            <a:r>
              <a:rPr sz="2600" b="0" i="0">
                <a:solidFill>
                  <a:srgbClr val="FFFFFF"/>
                </a:solidFill>
              </a:rPr>
              <a:t>🎯</a:t>
            </a:r>
          </a:p>
        </p:txBody>
      </p:sp>
      <p:sp>
        <p:nvSpPr>
          <p:cNvPr id="14" name="TextBox 13"/>
          <p:cNvSpPr txBox="1"/>
          <p:nvPr/>
        </p:nvSpPr>
        <p:spPr>
          <a:xfrm>
            <a:off x="4672330" y="1641348"/>
            <a:ext cx="3108960" cy="502920"/>
          </a:xfrm>
          <a:prstGeom prst="rect">
            <a:avLst/>
          </a:prstGeom>
          <a:noFill/>
        </p:spPr>
        <p:txBody>
          <a:bodyPr wrap="square">
            <a:spAutoFit/>
          </a:bodyPr>
          <a:lstStyle/>
          <a:p>
            <a:pPr algn="l"/>
            <a:r>
              <a:rPr sz="1500" b="1" i="0" dirty="0">
                <a:solidFill>
                  <a:srgbClr val="F85149"/>
                </a:solidFill>
              </a:rPr>
              <a:t>Spear Phishing</a:t>
            </a:r>
          </a:p>
        </p:txBody>
      </p:sp>
      <p:sp>
        <p:nvSpPr>
          <p:cNvPr id="15" name="TextBox 14"/>
          <p:cNvSpPr txBox="1"/>
          <p:nvPr/>
        </p:nvSpPr>
        <p:spPr>
          <a:xfrm>
            <a:off x="4206240" y="2167128"/>
            <a:ext cx="3154680" cy="1097280"/>
          </a:xfrm>
          <a:prstGeom prst="rect">
            <a:avLst/>
          </a:prstGeom>
          <a:noFill/>
        </p:spPr>
        <p:txBody>
          <a:bodyPr wrap="square">
            <a:spAutoFit/>
          </a:bodyPr>
          <a:lstStyle/>
          <a:p>
            <a:pPr algn="l"/>
            <a:r>
              <a:rPr sz="1300" b="0" i="0">
                <a:solidFill>
                  <a:srgbClr val="8B949E"/>
                </a:solidFill>
              </a:rPr>
              <a:t>Targeted attack — researched, personalized, harder to detect</a:t>
            </a:r>
          </a:p>
        </p:txBody>
      </p:sp>
      <p:sp>
        <p:nvSpPr>
          <p:cNvPr id="16" name="Rectangle 15"/>
          <p:cNvSpPr/>
          <p:nvPr/>
        </p:nvSpPr>
        <p:spPr>
          <a:xfrm>
            <a:off x="7680960" y="1417320"/>
            <a:ext cx="342900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680960" y="1417320"/>
            <a:ext cx="3429000" cy="64008"/>
          </a:xfrm>
          <a:prstGeom prst="rect">
            <a:avLst/>
          </a:prstGeom>
          <a:solidFill>
            <a:srgbClr val="E3B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18120" y="1581912"/>
            <a:ext cx="640080" cy="640080"/>
          </a:xfrm>
          <a:prstGeom prst="rect">
            <a:avLst/>
          </a:prstGeom>
          <a:noFill/>
        </p:spPr>
        <p:txBody>
          <a:bodyPr wrap="square">
            <a:spAutoFit/>
          </a:bodyPr>
          <a:lstStyle/>
          <a:p>
            <a:pPr algn="l"/>
            <a:r>
              <a:rPr sz="2600" b="0" i="0">
                <a:solidFill>
                  <a:srgbClr val="FFFFFF"/>
                </a:solidFill>
              </a:rPr>
              <a:t>📱</a:t>
            </a:r>
          </a:p>
        </p:txBody>
      </p:sp>
      <p:sp>
        <p:nvSpPr>
          <p:cNvPr id="19" name="TextBox 18"/>
          <p:cNvSpPr txBox="1"/>
          <p:nvPr/>
        </p:nvSpPr>
        <p:spPr>
          <a:xfrm>
            <a:off x="8247380" y="1650492"/>
            <a:ext cx="3108960" cy="502920"/>
          </a:xfrm>
          <a:prstGeom prst="rect">
            <a:avLst/>
          </a:prstGeom>
          <a:noFill/>
        </p:spPr>
        <p:txBody>
          <a:bodyPr wrap="square">
            <a:spAutoFit/>
          </a:bodyPr>
          <a:lstStyle/>
          <a:p>
            <a:pPr algn="l"/>
            <a:r>
              <a:rPr sz="1500" b="1" i="0" dirty="0">
                <a:solidFill>
                  <a:srgbClr val="E3B341"/>
                </a:solidFill>
              </a:rPr>
              <a:t>Smishing</a:t>
            </a:r>
          </a:p>
        </p:txBody>
      </p:sp>
      <p:sp>
        <p:nvSpPr>
          <p:cNvPr id="20" name="TextBox 19"/>
          <p:cNvSpPr txBox="1"/>
          <p:nvPr/>
        </p:nvSpPr>
        <p:spPr>
          <a:xfrm>
            <a:off x="7818120" y="2167128"/>
            <a:ext cx="3154680" cy="1097280"/>
          </a:xfrm>
          <a:prstGeom prst="rect">
            <a:avLst/>
          </a:prstGeom>
          <a:noFill/>
        </p:spPr>
        <p:txBody>
          <a:bodyPr wrap="square">
            <a:spAutoFit/>
          </a:bodyPr>
          <a:lstStyle/>
          <a:p>
            <a:pPr algn="l"/>
            <a:r>
              <a:rPr sz="1300" b="0" i="0">
                <a:solidFill>
                  <a:srgbClr val="8B949E"/>
                </a:solidFill>
              </a:rPr>
              <a:t>Phishing via SMS / text messages with malicious links</a:t>
            </a:r>
          </a:p>
        </p:txBody>
      </p:sp>
      <p:sp>
        <p:nvSpPr>
          <p:cNvPr id="21" name="Rectangle 20"/>
          <p:cNvSpPr/>
          <p:nvPr/>
        </p:nvSpPr>
        <p:spPr>
          <a:xfrm>
            <a:off x="457200" y="3657600"/>
            <a:ext cx="342900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3657600"/>
            <a:ext cx="3429000" cy="64008"/>
          </a:xfrm>
          <a:prstGeom prst="rect">
            <a:avLst/>
          </a:prstGeom>
          <a:solidFill>
            <a:srgbClr val="3FB9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3822191"/>
            <a:ext cx="640080" cy="640080"/>
          </a:xfrm>
          <a:prstGeom prst="rect">
            <a:avLst/>
          </a:prstGeom>
          <a:noFill/>
        </p:spPr>
        <p:txBody>
          <a:bodyPr wrap="square">
            <a:spAutoFit/>
          </a:bodyPr>
          <a:lstStyle/>
          <a:p>
            <a:pPr algn="l"/>
            <a:r>
              <a:rPr sz="2600" b="0" i="0">
                <a:solidFill>
                  <a:srgbClr val="FFFFFF"/>
                </a:solidFill>
              </a:rPr>
              <a:t>📞</a:t>
            </a:r>
          </a:p>
        </p:txBody>
      </p:sp>
      <p:sp>
        <p:nvSpPr>
          <p:cNvPr id="24" name="TextBox 23"/>
          <p:cNvSpPr txBox="1"/>
          <p:nvPr/>
        </p:nvSpPr>
        <p:spPr>
          <a:xfrm>
            <a:off x="1094232" y="3915157"/>
            <a:ext cx="3108960" cy="502920"/>
          </a:xfrm>
          <a:prstGeom prst="rect">
            <a:avLst/>
          </a:prstGeom>
          <a:noFill/>
        </p:spPr>
        <p:txBody>
          <a:bodyPr wrap="square">
            <a:spAutoFit/>
          </a:bodyPr>
          <a:lstStyle/>
          <a:p>
            <a:pPr algn="l"/>
            <a:r>
              <a:rPr sz="1500" b="1" i="0" dirty="0">
                <a:solidFill>
                  <a:srgbClr val="3FB950"/>
                </a:solidFill>
              </a:rPr>
              <a:t>Vishing</a:t>
            </a:r>
          </a:p>
        </p:txBody>
      </p:sp>
      <p:sp>
        <p:nvSpPr>
          <p:cNvPr id="25" name="TextBox 24"/>
          <p:cNvSpPr txBox="1"/>
          <p:nvPr/>
        </p:nvSpPr>
        <p:spPr>
          <a:xfrm>
            <a:off x="594360" y="4407408"/>
            <a:ext cx="3154680" cy="1097280"/>
          </a:xfrm>
          <a:prstGeom prst="rect">
            <a:avLst/>
          </a:prstGeom>
          <a:noFill/>
        </p:spPr>
        <p:txBody>
          <a:bodyPr wrap="square">
            <a:spAutoFit/>
          </a:bodyPr>
          <a:lstStyle/>
          <a:p>
            <a:pPr algn="l"/>
            <a:r>
              <a:rPr sz="1300" b="0" i="0">
                <a:solidFill>
                  <a:srgbClr val="8B949E"/>
                </a:solidFill>
              </a:rPr>
              <a:t>Voice phishing — scammers call and impersonate officials</a:t>
            </a:r>
          </a:p>
        </p:txBody>
      </p:sp>
      <p:sp>
        <p:nvSpPr>
          <p:cNvPr id="26" name="Rectangle 25"/>
          <p:cNvSpPr/>
          <p:nvPr/>
        </p:nvSpPr>
        <p:spPr>
          <a:xfrm>
            <a:off x="4069080" y="3657600"/>
            <a:ext cx="342900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069080" y="3657600"/>
            <a:ext cx="3429000" cy="64008"/>
          </a:xfrm>
          <a:prstGeom prst="rect">
            <a:avLst/>
          </a:prstGeom>
          <a:solidFill>
            <a:srgbClr val="BC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06240" y="3822191"/>
            <a:ext cx="640080" cy="640080"/>
          </a:xfrm>
          <a:prstGeom prst="rect">
            <a:avLst/>
          </a:prstGeom>
          <a:noFill/>
        </p:spPr>
        <p:txBody>
          <a:bodyPr wrap="square">
            <a:spAutoFit/>
          </a:bodyPr>
          <a:lstStyle/>
          <a:p>
            <a:pPr algn="l"/>
            <a:r>
              <a:rPr sz="2600" b="0" i="0">
                <a:solidFill>
                  <a:srgbClr val="FFFFFF"/>
                </a:solidFill>
              </a:rPr>
              <a:t>🌐</a:t>
            </a:r>
          </a:p>
        </p:txBody>
      </p:sp>
      <p:sp>
        <p:nvSpPr>
          <p:cNvPr id="29" name="TextBox 28"/>
          <p:cNvSpPr txBox="1"/>
          <p:nvPr/>
        </p:nvSpPr>
        <p:spPr>
          <a:xfrm>
            <a:off x="4709160" y="3899916"/>
            <a:ext cx="3108960" cy="502920"/>
          </a:xfrm>
          <a:prstGeom prst="rect">
            <a:avLst/>
          </a:prstGeom>
          <a:noFill/>
        </p:spPr>
        <p:txBody>
          <a:bodyPr wrap="square">
            <a:spAutoFit/>
          </a:bodyPr>
          <a:lstStyle/>
          <a:p>
            <a:pPr algn="l"/>
            <a:r>
              <a:rPr sz="1500" b="1" i="0">
                <a:solidFill>
                  <a:srgbClr val="BC8CFF"/>
                </a:solidFill>
              </a:rPr>
              <a:t>Fake Login Pages</a:t>
            </a:r>
          </a:p>
        </p:txBody>
      </p:sp>
      <p:sp>
        <p:nvSpPr>
          <p:cNvPr id="30" name="TextBox 29"/>
          <p:cNvSpPr txBox="1"/>
          <p:nvPr/>
        </p:nvSpPr>
        <p:spPr>
          <a:xfrm>
            <a:off x="4206240" y="4407408"/>
            <a:ext cx="3154680" cy="1097280"/>
          </a:xfrm>
          <a:prstGeom prst="rect">
            <a:avLst/>
          </a:prstGeom>
          <a:noFill/>
        </p:spPr>
        <p:txBody>
          <a:bodyPr wrap="square">
            <a:spAutoFit/>
          </a:bodyPr>
          <a:lstStyle/>
          <a:p>
            <a:pPr algn="l"/>
            <a:r>
              <a:rPr sz="1300" b="0" i="0">
                <a:solidFill>
                  <a:srgbClr val="8B949E"/>
                </a:solidFill>
              </a:rPr>
              <a:t>Lookalike websites that steal your credentials</a:t>
            </a:r>
          </a:p>
        </p:txBody>
      </p:sp>
      <p:sp>
        <p:nvSpPr>
          <p:cNvPr id="31" name="Rectangle 30"/>
          <p:cNvSpPr/>
          <p:nvPr/>
        </p:nvSpPr>
        <p:spPr>
          <a:xfrm>
            <a:off x="7680960" y="3657600"/>
            <a:ext cx="342900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680960" y="3657600"/>
            <a:ext cx="3429000" cy="64008"/>
          </a:xfrm>
          <a:prstGeom prst="rect">
            <a:avLst/>
          </a:prstGeom>
          <a:solidFill>
            <a:srgbClr val="FF7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818120" y="3822191"/>
            <a:ext cx="640080" cy="640080"/>
          </a:xfrm>
          <a:prstGeom prst="rect">
            <a:avLst/>
          </a:prstGeom>
          <a:noFill/>
        </p:spPr>
        <p:txBody>
          <a:bodyPr wrap="square">
            <a:spAutoFit/>
          </a:bodyPr>
          <a:lstStyle/>
          <a:p>
            <a:pPr algn="l"/>
            <a:r>
              <a:rPr sz="2600" b="0" i="0">
                <a:solidFill>
                  <a:srgbClr val="FFFFFF"/>
                </a:solidFill>
              </a:rPr>
              <a:t>📲</a:t>
            </a:r>
          </a:p>
        </p:txBody>
      </p:sp>
      <p:sp>
        <p:nvSpPr>
          <p:cNvPr id="34" name="TextBox 33"/>
          <p:cNvSpPr txBox="1"/>
          <p:nvPr/>
        </p:nvSpPr>
        <p:spPr>
          <a:xfrm>
            <a:off x="8415528" y="3894582"/>
            <a:ext cx="3108960" cy="502920"/>
          </a:xfrm>
          <a:prstGeom prst="rect">
            <a:avLst/>
          </a:prstGeom>
          <a:noFill/>
        </p:spPr>
        <p:txBody>
          <a:bodyPr wrap="square">
            <a:spAutoFit/>
          </a:bodyPr>
          <a:lstStyle/>
          <a:p>
            <a:pPr algn="l"/>
            <a:r>
              <a:rPr sz="1500" b="1" i="0" dirty="0">
                <a:solidFill>
                  <a:srgbClr val="FF7B72"/>
                </a:solidFill>
              </a:rPr>
              <a:t>Social Media</a:t>
            </a:r>
          </a:p>
        </p:txBody>
      </p:sp>
      <p:sp>
        <p:nvSpPr>
          <p:cNvPr id="35" name="TextBox 34"/>
          <p:cNvSpPr txBox="1"/>
          <p:nvPr/>
        </p:nvSpPr>
        <p:spPr>
          <a:xfrm>
            <a:off x="7818120" y="4407408"/>
            <a:ext cx="3154680" cy="1097280"/>
          </a:xfrm>
          <a:prstGeom prst="rect">
            <a:avLst/>
          </a:prstGeom>
          <a:noFill/>
        </p:spPr>
        <p:txBody>
          <a:bodyPr wrap="square">
            <a:spAutoFit/>
          </a:bodyPr>
          <a:lstStyle/>
          <a:p>
            <a:pPr algn="l"/>
            <a:r>
              <a:rPr sz="1300" b="0" i="0">
                <a:solidFill>
                  <a:srgbClr val="8B949E"/>
                </a:solidFill>
              </a:rPr>
              <a:t>Fake DMs, pages, or offers on social platforms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a:solidFill>
                  <a:srgbClr val="FFFFFF"/>
                </a:solidFill>
              </a:rPr>
              <a:t>🚨  Warning Signs in Emails</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Stop before you click — look for these red flags</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5486400" cy="32918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5212080" cy="1354217"/>
          </a:xfrm>
          <a:prstGeom prst="rect">
            <a:avLst/>
          </a:prstGeom>
          <a:noFill/>
        </p:spPr>
        <p:txBody>
          <a:bodyPr wrap="square">
            <a:spAutoFit/>
          </a:bodyPr>
          <a:lstStyle/>
          <a:p>
            <a:pPr algn="l"/>
            <a:r>
              <a:rPr lang="en-US" dirty="0">
                <a:solidFill>
                  <a:srgbClr val="FFFFFF"/>
                </a:solidFill>
              </a:rPr>
              <a:t>  </a:t>
            </a:r>
            <a:r>
              <a:rPr dirty="0">
                <a:solidFill>
                  <a:srgbClr val="FFFFFF"/>
                </a:solidFill>
              </a:rPr>
              <a:t>🔴  Suspicious or mismatched sender address</a:t>
            </a:r>
          </a:p>
          <a:p>
            <a:pPr algn="l">
              <a:spcBef>
                <a:spcPts val="400"/>
              </a:spcBef>
            </a:pPr>
            <a:r>
              <a:rPr dirty="0">
                <a:solidFill>
                  <a:srgbClr val="FFFFFF"/>
                </a:solidFill>
              </a:rPr>
              <a:t>  🔴  Urgent or threatening language</a:t>
            </a:r>
          </a:p>
          <a:p>
            <a:pPr algn="l">
              <a:spcBef>
                <a:spcPts val="400"/>
              </a:spcBef>
            </a:pPr>
            <a:r>
              <a:rPr dirty="0">
                <a:solidFill>
                  <a:srgbClr val="FFFFFF"/>
                </a:solidFill>
              </a:rPr>
              <a:t>  🔴  Spelling and grammar mistakes</a:t>
            </a:r>
          </a:p>
          <a:p>
            <a:pPr algn="l">
              <a:spcBef>
                <a:spcPts val="400"/>
              </a:spcBef>
            </a:pPr>
            <a:r>
              <a:rPr dirty="0">
                <a:solidFill>
                  <a:srgbClr val="FFFFFF"/>
                </a:solidFill>
              </a:rPr>
              <a:t>  🔴  Generic greeting (e.g. 'Dear Customer')</a:t>
            </a:r>
          </a:p>
        </p:txBody>
      </p:sp>
      <p:sp>
        <p:nvSpPr>
          <p:cNvPr id="8" name="Rectangle 7"/>
          <p:cNvSpPr/>
          <p:nvPr/>
        </p:nvSpPr>
        <p:spPr>
          <a:xfrm>
            <a:off x="6245352" y="1417320"/>
            <a:ext cx="5486400" cy="32918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82512" y="1554480"/>
            <a:ext cx="5212080" cy="1354217"/>
          </a:xfrm>
          <a:prstGeom prst="rect">
            <a:avLst/>
          </a:prstGeom>
          <a:noFill/>
        </p:spPr>
        <p:txBody>
          <a:bodyPr wrap="square">
            <a:spAutoFit/>
          </a:bodyPr>
          <a:lstStyle/>
          <a:p>
            <a:pPr algn="l">
              <a:spcBef>
                <a:spcPts val="400"/>
              </a:spcBef>
            </a:pPr>
            <a:r>
              <a:rPr dirty="0">
                <a:solidFill>
                  <a:srgbClr val="FFFFFF"/>
                </a:solidFill>
              </a:rPr>
              <a:t>  🔴  Unexpected or suspicious attachments</a:t>
            </a:r>
          </a:p>
          <a:p>
            <a:pPr algn="l">
              <a:spcBef>
                <a:spcPts val="400"/>
              </a:spcBef>
            </a:pPr>
            <a:r>
              <a:rPr dirty="0">
                <a:solidFill>
                  <a:srgbClr val="FFFFFF"/>
                </a:solidFill>
              </a:rPr>
              <a:t>  🔴  Links that don't match the display text</a:t>
            </a:r>
          </a:p>
          <a:p>
            <a:pPr algn="l">
              <a:spcBef>
                <a:spcPts val="400"/>
              </a:spcBef>
            </a:pPr>
            <a:r>
              <a:rPr dirty="0">
                <a:solidFill>
                  <a:srgbClr val="FFFFFF"/>
                </a:solidFill>
              </a:rPr>
              <a:t>  🔴  Requests for passwords, OTPs, or payment</a:t>
            </a:r>
          </a:p>
          <a:p>
            <a:pPr algn="l">
              <a:spcBef>
                <a:spcPts val="400"/>
              </a:spcBef>
            </a:pPr>
            <a:r>
              <a:rPr dirty="0">
                <a:solidFill>
                  <a:srgbClr val="FFFFFF"/>
                </a:solidFill>
              </a:rPr>
              <a:t>  🔴  Offers that sound too good to be true</a:t>
            </a:r>
          </a:p>
        </p:txBody>
      </p:sp>
      <p:sp>
        <p:nvSpPr>
          <p:cNvPr id="10" name="Rectangle 9"/>
          <p:cNvSpPr/>
          <p:nvPr/>
        </p:nvSpPr>
        <p:spPr>
          <a:xfrm>
            <a:off x="457200" y="4892040"/>
            <a:ext cx="11274552" cy="777240"/>
          </a:xfrm>
          <a:prstGeom prst="rect">
            <a:avLst/>
          </a:prstGeom>
          <a:solidFill>
            <a:srgbClr val="2D22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4892040"/>
            <a:ext cx="109728" cy="777240"/>
          </a:xfrm>
          <a:prstGeom prst="rect">
            <a:avLst/>
          </a:prstGeom>
          <a:solidFill>
            <a:srgbClr val="E3B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32" y="5120640"/>
            <a:ext cx="10881360" cy="548640"/>
          </a:xfrm>
          <a:prstGeom prst="rect">
            <a:avLst/>
          </a:prstGeom>
          <a:noFill/>
        </p:spPr>
        <p:txBody>
          <a:bodyPr wrap="square">
            <a:spAutoFit/>
          </a:bodyPr>
          <a:lstStyle/>
          <a:p>
            <a:pPr algn="l"/>
            <a:r>
              <a:rPr sz="1500" b="1" i="0" dirty="0">
                <a:solidFill>
                  <a:srgbClr val="E3B341"/>
                </a:solidFill>
              </a:rPr>
              <a:t>💡  Golden Rule:  When in doubt — don't click. Verify through the official website or phone number.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a:solidFill>
                  <a:srgbClr val="FFFFFF"/>
                </a:solidFill>
              </a:rPr>
              <a:t>🌐  Recognizing Fake Websites</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Check the address bar before you log in</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11274552" cy="1188720"/>
          </a:xfrm>
          <a:prstGeom prst="rect">
            <a:avLst/>
          </a:prstGeom>
          <a:solidFill>
            <a:srgbClr val="0E2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417320"/>
            <a:ext cx="109728" cy="566928"/>
          </a:xfrm>
          <a:prstGeom prst="rect">
            <a:avLst/>
          </a:prstGeom>
          <a:solidFill>
            <a:srgbClr val="3FB9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984248"/>
            <a:ext cx="109728" cy="621792"/>
          </a:xfrm>
          <a:prstGeom prst="rect">
            <a:avLst/>
          </a:prstGeom>
          <a:solidFill>
            <a:srgbClr val="F85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463040"/>
            <a:ext cx="10515600" cy="457200"/>
          </a:xfrm>
          <a:prstGeom prst="rect">
            <a:avLst/>
          </a:prstGeom>
          <a:noFill/>
        </p:spPr>
        <p:txBody>
          <a:bodyPr wrap="square">
            <a:spAutoFit/>
          </a:bodyPr>
          <a:lstStyle/>
          <a:p>
            <a:pPr algn="l"/>
            <a:r>
              <a:rPr sz="1700" b="1" i="0">
                <a:solidFill>
                  <a:srgbClr val="3FB950"/>
                </a:solidFill>
              </a:rPr>
              <a:t>✅  https://www.paypal.com/signin</a:t>
            </a:r>
          </a:p>
        </p:txBody>
      </p:sp>
      <p:sp>
        <p:nvSpPr>
          <p:cNvPr id="10" name="TextBox 9"/>
          <p:cNvSpPr txBox="1"/>
          <p:nvPr/>
        </p:nvSpPr>
        <p:spPr>
          <a:xfrm>
            <a:off x="685800" y="2011680"/>
            <a:ext cx="10515600" cy="457200"/>
          </a:xfrm>
          <a:prstGeom prst="rect">
            <a:avLst/>
          </a:prstGeom>
          <a:noFill/>
        </p:spPr>
        <p:txBody>
          <a:bodyPr wrap="square">
            <a:spAutoFit/>
          </a:bodyPr>
          <a:lstStyle/>
          <a:p>
            <a:pPr algn="l"/>
            <a:r>
              <a:rPr sz="1700" b="1" i="0">
                <a:solidFill>
                  <a:srgbClr val="F85149"/>
                </a:solidFill>
              </a:rPr>
              <a:t>❌  http://paypa1-secure-login.com/verify</a:t>
            </a:r>
          </a:p>
        </p:txBody>
      </p:sp>
      <p:sp>
        <p:nvSpPr>
          <p:cNvPr id="11" name="Rectangle 10"/>
          <p:cNvSpPr/>
          <p:nvPr/>
        </p:nvSpPr>
        <p:spPr>
          <a:xfrm>
            <a:off x="457200" y="2788920"/>
            <a:ext cx="5486400" cy="960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2898648"/>
            <a:ext cx="548640" cy="731520"/>
          </a:xfrm>
          <a:prstGeom prst="rect">
            <a:avLst/>
          </a:prstGeom>
          <a:noFill/>
        </p:spPr>
        <p:txBody>
          <a:bodyPr wrap="square">
            <a:spAutoFit/>
          </a:bodyPr>
          <a:lstStyle/>
          <a:p>
            <a:pPr algn="l"/>
            <a:r>
              <a:rPr sz="2000" b="0" i="0">
                <a:solidFill>
                  <a:srgbClr val="FFFFFF"/>
                </a:solidFill>
              </a:rPr>
              <a:t>🔗</a:t>
            </a:r>
          </a:p>
        </p:txBody>
      </p:sp>
      <p:sp>
        <p:nvSpPr>
          <p:cNvPr id="13" name="TextBox 12"/>
          <p:cNvSpPr txBox="1"/>
          <p:nvPr/>
        </p:nvSpPr>
        <p:spPr>
          <a:xfrm>
            <a:off x="1234440" y="2862072"/>
            <a:ext cx="4572000" cy="347472"/>
          </a:xfrm>
          <a:prstGeom prst="rect">
            <a:avLst/>
          </a:prstGeom>
          <a:noFill/>
        </p:spPr>
        <p:txBody>
          <a:bodyPr wrap="square">
            <a:spAutoFit/>
          </a:bodyPr>
          <a:lstStyle/>
          <a:p>
            <a:pPr algn="l"/>
            <a:r>
              <a:rPr sz="1300" b="1" i="0">
                <a:solidFill>
                  <a:srgbClr val="58A6FF"/>
                </a:solidFill>
              </a:rPr>
              <a:t>Check the URL</a:t>
            </a:r>
          </a:p>
        </p:txBody>
      </p:sp>
      <p:sp>
        <p:nvSpPr>
          <p:cNvPr id="14" name="TextBox 13"/>
          <p:cNvSpPr txBox="1"/>
          <p:nvPr/>
        </p:nvSpPr>
        <p:spPr>
          <a:xfrm>
            <a:off x="1234440" y="3227832"/>
            <a:ext cx="4572000" cy="457200"/>
          </a:xfrm>
          <a:prstGeom prst="rect">
            <a:avLst/>
          </a:prstGeom>
          <a:noFill/>
        </p:spPr>
        <p:txBody>
          <a:bodyPr wrap="square">
            <a:spAutoFit/>
          </a:bodyPr>
          <a:lstStyle/>
          <a:p>
            <a:pPr algn="l"/>
            <a:r>
              <a:rPr sz="1200" b="0" i="0">
                <a:solidFill>
                  <a:srgbClr val="8B949E"/>
                </a:solidFill>
              </a:rPr>
              <a:t>Look for the exact official domain. Any difference is suspicious.</a:t>
            </a:r>
          </a:p>
        </p:txBody>
      </p:sp>
      <p:sp>
        <p:nvSpPr>
          <p:cNvPr id="15" name="Rectangle 14"/>
          <p:cNvSpPr/>
          <p:nvPr/>
        </p:nvSpPr>
        <p:spPr>
          <a:xfrm>
            <a:off x="457200" y="3886200"/>
            <a:ext cx="5486400" cy="960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3995928"/>
            <a:ext cx="548640" cy="731520"/>
          </a:xfrm>
          <a:prstGeom prst="rect">
            <a:avLst/>
          </a:prstGeom>
          <a:noFill/>
        </p:spPr>
        <p:txBody>
          <a:bodyPr wrap="square">
            <a:spAutoFit/>
          </a:bodyPr>
          <a:lstStyle/>
          <a:p>
            <a:pPr algn="l"/>
            <a:r>
              <a:rPr sz="2000" b="0" i="0">
                <a:solidFill>
                  <a:srgbClr val="FFFFFF"/>
                </a:solidFill>
              </a:rPr>
              <a:t>🔒</a:t>
            </a:r>
          </a:p>
        </p:txBody>
      </p:sp>
      <p:sp>
        <p:nvSpPr>
          <p:cNvPr id="17" name="TextBox 16"/>
          <p:cNvSpPr txBox="1"/>
          <p:nvPr/>
        </p:nvSpPr>
        <p:spPr>
          <a:xfrm>
            <a:off x="1234440" y="3959352"/>
            <a:ext cx="4572000" cy="347472"/>
          </a:xfrm>
          <a:prstGeom prst="rect">
            <a:avLst/>
          </a:prstGeom>
          <a:noFill/>
        </p:spPr>
        <p:txBody>
          <a:bodyPr wrap="square">
            <a:spAutoFit/>
          </a:bodyPr>
          <a:lstStyle/>
          <a:p>
            <a:pPr algn="l"/>
            <a:r>
              <a:rPr sz="1300" b="1" i="0">
                <a:solidFill>
                  <a:srgbClr val="58A6FF"/>
                </a:solidFill>
              </a:rPr>
              <a:t>HTTPS ≠ Safe</a:t>
            </a:r>
          </a:p>
        </p:txBody>
      </p:sp>
      <p:sp>
        <p:nvSpPr>
          <p:cNvPr id="18" name="TextBox 17"/>
          <p:cNvSpPr txBox="1"/>
          <p:nvPr/>
        </p:nvSpPr>
        <p:spPr>
          <a:xfrm>
            <a:off x="1234440" y="4325112"/>
            <a:ext cx="4572000" cy="457200"/>
          </a:xfrm>
          <a:prstGeom prst="rect">
            <a:avLst/>
          </a:prstGeom>
          <a:noFill/>
        </p:spPr>
        <p:txBody>
          <a:bodyPr wrap="square">
            <a:spAutoFit/>
          </a:bodyPr>
          <a:lstStyle/>
          <a:p>
            <a:pPr algn="l"/>
            <a:r>
              <a:rPr sz="1200" b="0" i="0">
                <a:solidFill>
                  <a:srgbClr val="8B949E"/>
                </a:solidFill>
              </a:rPr>
              <a:t>HTTPS means encrypted, NOT that the site is legitimate — scammers use HTTPS too.</a:t>
            </a:r>
          </a:p>
        </p:txBody>
      </p:sp>
      <p:sp>
        <p:nvSpPr>
          <p:cNvPr id="19" name="Rectangle 18"/>
          <p:cNvSpPr/>
          <p:nvPr/>
        </p:nvSpPr>
        <p:spPr>
          <a:xfrm>
            <a:off x="457200" y="4983479"/>
            <a:ext cx="5486400" cy="960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5093207"/>
            <a:ext cx="548640" cy="731520"/>
          </a:xfrm>
          <a:prstGeom prst="rect">
            <a:avLst/>
          </a:prstGeom>
          <a:noFill/>
        </p:spPr>
        <p:txBody>
          <a:bodyPr wrap="square">
            <a:spAutoFit/>
          </a:bodyPr>
          <a:lstStyle/>
          <a:p>
            <a:pPr algn="l"/>
            <a:r>
              <a:rPr sz="2000" b="0" i="0">
                <a:solidFill>
                  <a:srgbClr val="FFFFFF"/>
                </a:solidFill>
              </a:rPr>
              <a:t>🔤</a:t>
            </a:r>
          </a:p>
        </p:txBody>
      </p:sp>
      <p:sp>
        <p:nvSpPr>
          <p:cNvPr id="21" name="TextBox 20"/>
          <p:cNvSpPr txBox="1"/>
          <p:nvPr/>
        </p:nvSpPr>
        <p:spPr>
          <a:xfrm>
            <a:off x="1234440" y="5056631"/>
            <a:ext cx="4572000" cy="347472"/>
          </a:xfrm>
          <a:prstGeom prst="rect">
            <a:avLst/>
          </a:prstGeom>
          <a:noFill/>
        </p:spPr>
        <p:txBody>
          <a:bodyPr wrap="square">
            <a:spAutoFit/>
          </a:bodyPr>
          <a:lstStyle/>
          <a:p>
            <a:pPr algn="l"/>
            <a:r>
              <a:rPr sz="1300" b="1" i="0">
                <a:solidFill>
                  <a:srgbClr val="58A6FF"/>
                </a:solidFill>
              </a:rPr>
              <a:t>Typosquatting</a:t>
            </a:r>
          </a:p>
        </p:txBody>
      </p:sp>
      <p:sp>
        <p:nvSpPr>
          <p:cNvPr id="22" name="TextBox 21"/>
          <p:cNvSpPr txBox="1"/>
          <p:nvPr/>
        </p:nvSpPr>
        <p:spPr>
          <a:xfrm>
            <a:off x="1234440" y="5422392"/>
            <a:ext cx="4572000" cy="457200"/>
          </a:xfrm>
          <a:prstGeom prst="rect">
            <a:avLst/>
          </a:prstGeom>
          <a:noFill/>
        </p:spPr>
        <p:txBody>
          <a:bodyPr wrap="square">
            <a:spAutoFit/>
          </a:bodyPr>
          <a:lstStyle/>
          <a:p>
            <a:pPr algn="l"/>
            <a:r>
              <a:rPr sz="1200" b="0" i="0">
                <a:solidFill>
                  <a:srgbClr val="8B949E"/>
                </a:solidFill>
              </a:rPr>
              <a:t>Attackers register look-alike domains: paypa1.com, faceb00k.com, goog1e.com</a:t>
            </a:r>
          </a:p>
        </p:txBody>
      </p:sp>
      <p:sp>
        <p:nvSpPr>
          <p:cNvPr id="23" name="Rectangle 22"/>
          <p:cNvSpPr/>
          <p:nvPr/>
        </p:nvSpPr>
        <p:spPr>
          <a:xfrm>
            <a:off x="6245352" y="2788920"/>
            <a:ext cx="5486400" cy="960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82512" y="2898648"/>
            <a:ext cx="548640" cy="731520"/>
          </a:xfrm>
          <a:prstGeom prst="rect">
            <a:avLst/>
          </a:prstGeom>
          <a:noFill/>
        </p:spPr>
        <p:txBody>
          <a:bodyPr wrap="square">
            <a:spAutoFit/>
          </a:bodyPr>
          <a:lstStyle/>
          <a:p>
            <a:pPr algn="l"/>
            <a:r>
              <a:rPr sz="2000" b="0" i="0">
                <a:solidFill>
                  <a:srgbClr val="FFFFFF"/>
                </a:solidFill>
              </a:rPr>
              <a:t>🖥️</a:t>
            </a:r>
          </a:p>
        </p:txBody>
      </p:sp>
      <p:sp>
        <p:nvSpPr>
          <p:cNvPr id="25" name="TextBox 24"/>
          <p:cNvSpPr txBox="1"/>
          <p:nvPr/>
        </p:nvSpPr>
        <p:spPr>
          <a:xfrm>
            <a:off x="7022592" y="2862072"/>
            <a:ext cx="4572000" cy="347472"/>
          </a:xfrm>
          <a:prstGeom prst="rect">
            <a:avLst/>
          </a:prstGeom>
          <a:noFill/>
        </p:spPr>
        <p:txBody>
          <a:bodyPr wrap="square">
            <a:spAutoFit/>
          </a:bodyPr>
          <a:lstStyle/>
          <a:p>
            <a:pPr algn="l"/>
            <a:r>
              <a:rPr sz="1300" b="1" i="0">
                <a:solidFill>
                  <a:srgbClr val="58A6FF"/>
                </a:solidFill>
              </a:rPr>
              <a:t>Poor Design</a:t>
            </a:r>
          </a:p>
        </p:txBody>
      </p:sp>
      <p:sp>
        <p:nvSpPr>
          <p:cNvPr id="26" name="TextBox 25"/>
          <p:cNvSpPr txBox="1"/>
          <p:nvPr/>
        </p:nvSpPr>
        <p:spPr>
          <a:xfrm>
            <a:off x="7022592" y="3227832"/>
            <a:ext cx="4572000" cy="457200"/>
          </a:xfrm>
          <a:prstGeom prst="rect">
            <a:avLst/>
          </a:prstGeom>
          <a:noFill/>
        </p:spPr>
        <p:txBody>
          <a:bodyPr wrap="square">
            <a:spAutoFit/>
          </a:bodyPr>
          <a:lstStyle/>
          <a:p>
            <a:pPr algn="l"/>
            <a:r>
              <a:rPr sz="1200" b="0" i="0">
                <a:solidFill>
                  <a:srgbClr val="8B949E"/>
                </a:solidFill>
              </a:rPr>
              <a:t>Blurry logos, broken layout, mismatched fonts — signs of a fake page.</a:t>
            </a:r>
          </a:p>
        </p:txBody>
      </p:sp>
      <p:sp>
        <p:nvSpPr>
          <p:cNvPr id="27" name="Rectangle 26"/>
          <p:cNvSpPr/>
          <p:nvPr/>
        </p:nvSpPr>
        <p:spPr>
          <a:xfrm>
            <a:off x="6245352" y="3886200"/>
            <a:ext cx="5486400" cy="960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82512" y="3995928"/>
            <a:ext cx="548640" cy="731520"/>
          </a:xfrm>
          <a:prstGeom prst="rect">
            <a:avLst/>
          </a:prstGeom>
          <a:noFill/>
        </p:spPr>
        <p:txBody>
          <a:bodyPr wrap="square">
            <a:spAutoFit/>
          </a:bodyPr>
          <a:lstStyle/>
          <a:p>
            <a:pPr algn="l"/>
            <a:r>
              <a:rPr sz="2000" b="0" i="0">
                <a:solidFill>
                  <a:srgbClr val="FFFFFF"/>
                </a:solidFill>
              </a:rPr>
              <a:t>↪️</a:t>
            </a:r>
          </a:p>
        </p:txBody>
      </p:sp>
      <p:sp>
        <p:nvSpPr>
          <p:cNvPr id="29" name="TextBox 28"/>
          <p:cNvSpPr txBox="1"/>
          <p:nvPr/>
        </p:nvSpPr>
        <p:spPr>
          <a:xfrm>
            <a:off x="7022592" y="3959352"/>
            <a:ext cx="4572000" cy="347472"/>
          </a:xfrm>
          <a:prstGeom prst="rect">
            <a:avLst/>
          </a:prstGeom>
          <a:noFill/>
        </p:spPr>
        <p:txBody>
          <a:bodyPr wrap="square">
            <a:spAutoFit/>
          </a:bodyPr>
          <a:lstStyle/>
          <a:p>
            <a:pPr algn="l"/>
            <a:r>
              <a:rPr sz="1300" b="1" i="0">
                <a:solidFill>
                  <a:srgbClr val="58A6FF"/>
                </a:solidFill>
              </a:rPr>
              <a:t>Unexpected Redirect</a:t>
            </a:r>
          </a:p>
        </p:txBody>
      </p:sp>
      <p:sp>
        <p:nvSpPr>
          <p:cNvPr id="30" name="TextBox 29"/>
          <p:cNvSpPr txBox="1"/>
          <p:nvPr/>
        </p:nvSpPr>
        <p:spPr>
          <a:xfrm>
            <a:off x="7022592" y="4325112"/>
            <a:ext cx="4572000" cy="457200"/>
          </a:xfrm>
          <a:prstGeom prst="rect">
            <a:avLst/>
          </a:prstGeom>
          <a:noFill/>
        </p:spPr>
        <p:txBody>
          <a:bodyPr wrap="square">
            <a:spAutoFit/>
          </a:bodyPr>
          <a:lstStyle/>
          <a:p>
            <a:pPr algn="l"/>
            <a:r>
              <a:rPr sz="1200" b="0" i="0">
                <a:solidFill>
                  <a:srgbClr val="8B949E"/>
                </a:solidFill>
              </a:rPr>
              <a:t>If the link sends you somewhere unexpected, close the tab immediately.</a:t>
            </a:r>
          </a:p>
        </p:txBody>
      </p:sp>
      <p:sp>
        <p:nvSpPr>
          <p:cNvPr id="31" name="Rectangle 30"/>
          <p:cNvSpPr/>
          <p:nvPr/>
        </p:nvSpPr>
        <p:spPr>
          <a:xfrm>
            <a:off x="6245352" y="4983479"/>
            <a:ext cx="5486400" cy="960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82512" y="5093207"/>
            <a:ext cx="548640" cy="731520"/>
          </a:xfrm>
          <a:prstGeom prst="rect">
            <a:avLst/>
          </a:prstGeom>
          <a:noFill/>
        </p:spPr>
        <p:txBody>
          <a:bodyPr wrap="square">
            <a:spAutoFit/>
          </a:bodyPr>
          <a:lstStyle/>
          <a:p>
            <a:pPr algn="l"/>
            <a:r>
              <a:rPr sz="2000" b="0" i="0">
                <a:solidFill>
                  <a:srgbClr val="FFFFFF"/>
                </a:solidFill>
              </a:rPr>
              <a:t>📋</a:t>
            </a:r>
          </a:p>
        </p:txBody>
      </p:sp>
      <p:sp>
        <p:nvSpPr>
          <p:cNvPr id="33" name="TextBox 32"/>
          <p:cNvSpPr txBox="1"/>
          <p:nvPr/>
        </p:nvSpPr>
        <p:spPr>
          <a:xfrm>
            <a:off x="7022592" y="5056631"/>
            <a:ext cx="4572000" cy="347472"/>
          </a:xfrm>
          <a:prstGeom prst="rect">
            <a:avLst/>
          </a:prstGeom>
          <a:noFill/>
        </p:spPr>
        <p:txBody>
          <a:bodyPr wrap="square">
            <a:spAutoFit/>
          </a:bodyPr>
          <a:lstStyle/>
          <a:p>
            <a:pPr algn="l"/>
            <a:r>
              <a:rPr sz="1300" b="1" i="0">
                <a:solidFill>
                  <a:srgbClr val="58A6FF"/>
                </a:solidFill>
              </a:rPr>
              <a:t>Fake Login Prompt</a:t>
            </a:r>
          </a:p>
        </p:txBody>
      </p:sp>
      <p:sp>
        <p:nvSpPr>
          <p:cNvPr id="34" name="TextBox 33"/>
          <p:cNvSpPr txBox="1"/>
          <p:nvPr/>
        </p:nvSpPr>
        <p:spPr>
          <a:xfrm>
            <a:off x="7022592" y="5422392"/>
            <a:ext cx="4572000" cy="457200"/>
          </a:xfrm>
          <a:prstGeom prst="rect">
            <a:avLst/>
          </a:prstGeom>
          <a:noFill/>
        </p:spPr>
        <p:txBody>
          <a:bodyPr wrap="square">
            <a:spAutoFit/>
          </a:bodyPr>
          <a:lstStyle/>
          <a:p>
            <a:pPr algn="l"/>
            <a:r>
              <a:rPr sz="1200" b="0" i="0">
                <a:solidFill>
                  <a:srgbClr val="8B949E"/>
                </a:solidFill>
              </a:rPr>
              <a:t>Never log in through a link in a message — go to the site directly.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a:solidFill>
                  <a:srgbClr val="FFFFFF"/>
                </a:solidFill>
              </a:rPr>
              <a:t>🧠  Social Engineering Tactics</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Attackers exploit human psychology — not just technology</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3429000" cy="2103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417320"/>
            <a:ext cx="3429000" cy="64008"/>
          </a:xfrm>
          <a:prstGeom prst="rect">
            <a:avLst/>
          </a:prstGeom>
          <a:solidFill>
            <a:srgbClr val="F85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554480"/>
            <a:ext cx="731520" cy="640080"/>
          </a:xfrm>
          <a:prstGeom prst="rect">
            <a:avLst/>
          </a:prstGeom>
          <a:noFill/>
        </p:spPr>
        <p:txBody>
          <a:bodyPr wrap="square">
            <a:spAutoFit/>
          </a:bodyPr>
          <a:lstStyle/>
          <a:p>
            <a:pPr algn="l"/>
            <a:r>
              <a:rPr sz="2800" b="0" i="0">
                <a:solidFill>
                  <a:srgbClr val="FFFFFF"/>
                </a:solidFill>
              </a:rPr>
              <a:t>😨</a:t>
            </a:r>
          </a:p>
        </p:txBody>
      </p:sp>
      <p:sp>
        <p:nvSpPr>
          <p:cNvPr id="9" name="TextBox 8"/>
          <p:cNvSpPr txBox="1"/>
          <p:nvPr/>
        </p:nvSpPr>
        <p:spPr>
          <a:xfrm>
            <a:off x="1371600" y="1581912"/>
            <a:ext cx="2377440" cy="457200"/>
          </a:xfrm>
          <a:prstGeom prst="rect">
            <a:avLst/>
          </a:prstGeom>
          <a:noFill/>
        </p:spPr>
        <p:txBody>
          <a:bodyPr wrap="square">
            <a:spAutoFit/>
          </a:bodyPr>
          <a:lstStyle/>
          <a:p>
            <a:pPr algn="l"/>
            <a:r>
              <a:rPr sz="1800" b="1" i="0">
                <a:solidFill>
                  <a:srgbClr val="F85149"/>
                </a:solidFill>
              </a:rPr>
              <a:t>Fear</a:t>
            </a:r>
          </a:p>
        </p:txBody>
      </p:sp>
      <p:sp>
        <p:nvSpPr>
          <p:cNvPr id="10" name="TextBox 9"/>
          <p:cNvSpPr txBox="1"/>
          <p:nvPr/>
        </p:nvSpPr>
        <p:spPr>
          <a:xfrm>
            <a:off x="594360" y="2194560"/>
            <a:ext cx="3154680" cy="1188720"/>
          </a:xfrm>
          <a:prstGeom prst="rect">
            <a:avLst/>
          </a:prstGeom>
          <a:noFill/>
        </p:spPr>
        <p:txBody>
          <a:bodyPr wrap="square">
            <a:spAutoFit/>
          </a:bodyPr>
          <a:lstStyle/>
          <a:p>
            <a:pPr algn="l"/>
            <a:r>
              <a:rPr sz="1200" b="0" i="1">
                <a:solidFill>
                  <a:srgbClr val="8B949E"/>
                </a:solidFill>
              </a:rPr>
              <a:t>Your account has been hacked!
Change your password now or lose access forever.</a:t>
            </a:r>
          </a:p>
        </p:txBody>
      </p:sp>
      <p:sp>
        <p:nvSpPr>
          <p:cNvPr id="11" name="Rectangle 10"/>
          <p:cNvSpPr/>
          <p:nvPr/>
        </p:nvSpPr>
        <p:spPr>
          <a:xfrm>
            <a:off x="4069080" y="1417320"/>
            <a:ext cx="3429000" cy="2103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069080" y="1417320"/>
            <a:ext cx="3429000" cy="64008"/>
          </a:xfrm>
          <a:prstGeom prst="rect">
            <a:avLst/>
          </a:prstGeom>
          <a:solidFill>
            <a:srgbClr val="E3B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06240" y="1554480"/>
            <a:ext cx="731520" cy="640080"/>
          </a:xfrm>
          <a:prstGeom prst="rect">
            <a:avLst/>
          </a:prstGeom>
          <a:noFill/>
        </p:spPr>
        <p:txBody>
          <a:bodyPr wrap="square">
            <a:spAutoFit/>
          </a:bodyPr>
          <a:lstStyle/>
          <a:p>
            <a:pPr algn="l"/>
            <a:r>
              <a:rPr sz="2800" b="0" i="0">
                <a:solidFill>
                  <a:srgbClr val="FFFFFF"/>
                </a:solidFill>
              </a:rPr>
              <a:t>⏰</a:t>
            </a:r>
          </a:p>
        </p:txBody>
      </p:sp>
      <p:sp>
        <p:nvSpPr>
          <p:cNvPr id="14" name="TextBox 13"/>
          <p:cNvSpPr txBox="1"/>
          <p:nvPr/>
        </p:nvSpPr>
        <p:spPr>
          <a:xfrm>
            <a:off x="4983480" y="1581912"/>
            <a:ext cx="2377440" cy="457200"/>
          </a:xfrm>
          <a:prstGeom prst="rect">
            <a:avLst/>
          </a:prstGeom>
          <a:noFill/>
        </p:spPr>
        <p:txBody>
          <a:bodyPr wrap="square">
            <a:spAutoFit/>
          </a:bodyPr>
          <a:lstStyle/>
          <a:p>
            <a:pPr algn="l"/>
            <a:r>
              <a:rPr sz="1800" b="1" i="0">
                <a:solidFill>
                  <a:srgbClr val="E3B341"/>
                </a:solidFill>
              </a:rPr>
              <a:t>Urgency</a:t>
            </a:r>
          </a:p>
        </p:txBody>
      </p:sp>
      <p:sp>
        <p:nvSpPr>
          <p:cNvPr id="15" name="TextBox 14"/>
          <p:cNvSpPr txBox="1"/>
          <p:nvPr/>
        </p:nvSpPr>
        <p:spPr>
          <a:xfrm>
            <a:off x="4206240" y="2194560"/>
            <a:ext cx="3154680" cy="1188720"/>
          </a:xfrm>
          <a:prstGeom prst="rect">
            <a:avLst/>
          </a:prstGeom>
          <a:noFill/>
        </p:spPr>
        <p:txBody>
          <a:bodyPr wrap="square">
            <a:spAutoFit/>
          </a:bodyPr>
          <a:lstStyle/>
          <a:p>
            <a:pPr algn="l"/>
            <a:r>
              <a:rPr sz="1200" b="0" i="1">
                <a:solidFill>
                  <a:srgbClr val="8B949E"/>
                </a:solidFill>
              </a:rPr>
              <a:t>This offer expires in 10 minutes.
Act now before it is too late!</a:t>
            </a:r>
          </a:p>
        </p:txBody>
      </p:sp>
      <p:sp>
        <p:nvSpPr>
          <p:cNvPr id="16" name="Rectangle 15"/>
          <p:cNvSpPr/>
          <p:nvPr/>
        </p:nvSpPr>
        <p:spPr>
          <a:xfrm>
            <a:off x="7680960" y="1417320"/>
            <a:ext cx="3429000" cy="2103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680960" y="1417320"/>
            <a:ext cx="3429000" cy="6400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18120" y="1554480"/>
            <a:ext cx="731520" cy="640080"/>
          </a:xfrm>
          <a:prstGeom prst="rect">
            <a:avLst/>
          </a:prstGeom>
          <a:noFill/>
        </p:spPr>
        <p:txBody>
          <a:bodyPr wrap="square">
            <a:spAutoFit/>
          </a:bodyPr>
          <a:lstStyle/>
          <a:p>
            <a:pPr algn="l"/>
            <a:r>
              <a:rPr sz="2800" b="0" i="0">
                <a:solidFill>
                  <a:srgbClr val="FFFFFF"/>
                </a:solidFill>
              </a:rPr>
              <a:t>🤔</a:t>
            </a:r>
          </a:p>
        </p:txBody>
      </p:sp>
      <p:sp>
        <p:nvSpPr>
          <p:cNvPr id="19" name="TextBox 18"/>
          <p:cNvSpPr txBox="1"/>
          <p:nvPr/>
        </p:nvSpPr>
        <p:spPr>
          <a:xfrm>
            <a:off x="8595360" y="1581912"/>
            <a:ext cx="2377440" cy="457200"/>
          </a:xfrm>
          <a:prstGeom prst="rect">
            <a:avLst/>
          </a:prstGeom>
          <a:noFill/>
        </p:spPr>
        <p:txBody>
          <a:bodyPr wrap="square">
            <a:spAutoFit/>
          </a:bodyPr>
          <a:lstStyle/>
          <a:p>
            <a:pPr algn="l"/>
            <a:r>
              <a:rPr sz="1800" b="1" i="0">
                <a:solidFill>
                  <a:srgbClr val="58A6FF"/>
                </a:solidFill>
              </a:rPr>
              <a:t>Curiosity</a:t>
            </a:r>
          </a:p>
        </p:txBody>
      </p:sp>
      <p:sp>
        <p:nvSpPr>
          <p:cNvPr id="20" name="TextBox 19"/>
          <p:cNvSpPr txBox="1"/>
          <p:nvPr/>
        </p:nvSpPr>
        <p:spPr>
          <a:xfrm>
            <a:off x="7818120" y="2194560"/>
            <a:ext cx="3154680" cy="1188720"/>
          </a:xfrm>
          <a:prstGeom prst="rect">
            <a:avLst/>
          </a:prstGeom>
          <a:noFill/>
        </p:spPr>
        <p:txBody>
          <a:bodyPr wrap="square">
            <a:spAutoFit/>
          </a:bodyPr>
          <a:lstStyle/>
          <a:p>
            <a:pPr algn="l"/>
            <a:r>
              <a:rPr sz="1200" b="0" i="1">
                <a:solidFill>
                  <a:srgbClr val="8B949E"/>
                </a:solidFill>
              </a:rPr>
              <a:t>Someone sent you a private photo.
Click here to view it now.</a:t>
            </a:r>
          </a:p>
        </p:txBody>
      </p:sp>
      <p:sp>
        <p:nvSpPr>
          <p:cNvPr id="21" name="Rectangle 20"/>
          <p:cNvSpPr/>
          <p:nvPr/>
        </p:nvSpPr>
        <p:spPr>
          <a:xfrm>
            <a:off x="457200" y="3749039"/>
            <a:ext cx="3429000" cy="2103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3749039"/>
            <a:ext cx="3429000" cy="64008"/>
          </a:xfrm>
          <a:prstGeom prst="rect">
            <a:avLst/>
          </a:prstGeom>
          <a:solidFill>
            <a:srgbClr val="3FB9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3886200"/>
            <a:ext cx="731520" cy="640080"/>
          </a:xfrm>
          <a:prstGeom prst="rect">
            <a:avLst/>
          </a:prstGeom>
          <a:noFill/>
        </p:spPr>
        <p:txBody>
          <a:bodyPr wrap="square">
            <a:spAutoFit/>
          </a:bodyPr>
          <a:lstStyle/>
          <a:p>
            <a:pPr algn="l"/>
            <a:r>
              <a:rPr sz="2800" b="0" i="0">
                <a:solidFill>
                  <a:srgbClr val="FFFFFF"/>
                </a:solidFill>
              </a:rPr>
              <a:t>💰</a:t>
            </a:r>
          </a:p>
        </p:txBody>
      </p:sp>
      <p:sp>
        <p:nvSpPr>
          <p:cNvPr id="24" name="TextBox 23"/>
          <p:cNvSpPr txBox="1"/>
          <p:nvPr/>
        </p:nvSpPr>
        <p:spPr>
          <a:xfrm>
            <a:off x="1371600" y="3913631"/>
            <a:ext cx="2377440" cy="457200"/>
          </a:xfrm>
          <a:prstGeom prst="rect">
            <a:avLst/>
          </a:prstGeom>
          <a:noFill/>
        </p:spPr>
        <p:txBody>
          <a:bodyPr wrap="square">
            <a:spAutoFit/>
          </a:bodyPr>
          <a:lstStyle/>
          <a:p>
            <a:pPr algn="l"/>
            <a:r>
              <a:rPr sz="1800" b="1" i="0">
                <a:solidFill>
                  <a:srgbClr val="3FB950"/>
                </a:solidFill>
              </a:rPr>
              <a:t>Greed</a:t>
            </a:r>
          </a:p>
        </p:txBody>
      </p:sp>
      <p:sp>
        <p:nvSpPr>
          <p:cNvPr id="25" name="TextBox 24"/>
          <p:cNvSpPr txBox="1"/>
          <p:nvPr/>
        </p:nvSpPr>
        <p:spPr>
          <a:xfrm>
            <a:off x="594360" y="4526279"/>
            <a:ext cx="3154680" cy="1188720"/>
          </a:xfrm>
          <a:prstGeom prst="rect">
            <a:avLst/>
          </a:prstGeom>
          <a:noFill/>
        </p:spPr>
        <p:txBody>
          <a:bodyPr wrap="square">
            <a:spAutoFit/>
          </a:bodyPr>
          <a:lstStyle/>
          <a:p>
            <a:pPr algn="l"/>
            <a:r>
              <a:rPr sz="1200" b="0" i="1">
                <a:solidFill>
                  <a:srgbClr val="8B949E"/>
                </a:solidFill>
              </a:rPr>
              <a:t>Congratulations! You won $1,000.
Claim your reward immediately.</a:t>
            </a:r>
          </a:p>
        </p:txBody>
      </p:sp>
      <p:sp>
        <p:nvSpPr>
          <p:cNvPr id="26" name="Rectangle 25"/>
          <p:cNvSpPr/>
          <p:nvPr/>
        </p:nvSpPr>
        <p:spPr>
          <a:xfrm>
            <a:off x="4069080" y="3749039"/>
            <a:ext cx="3429000" cy="2103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069080" y="3749039"/>
            <a:ext cx="3429000" cy="64008"/>
          </a:xfrm>
          <a:prstGeom prst="rect">
            <a:avLst/>
          </a:prstGeom>
          <a:solidFill>
            <a:srgbClr val="BC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06240" y="3886200"/>
            <a:ext cx="731520" cy="640080"/>
          </a:xfrm>
          <a:prstGeom prst="rect">
            <a:avLst/>
          </a:prstGeom>
          <a:noFill/>
        </p:spPr>
        <p:txBody>
          <a:bodyPr wrap="square">
            <a:spAutoFit/>
          </a:bodyPr>
          <a:lstStyle/>
          <a:p>
            <a:pPr algn="l"/>
            <a:r>
              <a:rPr sz="2800" b="0" i="0">
                <a:solidFill>
                  <a:srgbClr val="FFFFFF"/>
                </a:solidFill>
              </a:rPr>
              <a:t>🤝</a:t>
            </a:r>
          </a:p>
        </p:txBody>
      </p:sp>
      <p:sp>
        <p:nvSpPr>
          <p:cNvPr id="29" name="TextBox 28"/>
          <p:cNvSpPr txBox="1"/>
          <p:nvPr/>
        </p:nvSpPr>
        <p:spPr>
          <a:xfrm>
            <a:off x="4983480" y="3913631"/>
            <a:ext cx="2377440" cy="457200"/>
          </a:xfrm>
          <a:prstGeom prst="rect">
            <a:avLst/>
          </a:prstGeom>
          <a:noFill/>
        </p:spPr>
        <p:txBody>
          <a:bodyPr wrap="square">
            <a:spAutoFit/>
          </a:bodyPr>
          <a:lstStyle/>
          <a:p>
            <a:pPr algn="l"/>
            <a:r>
              <a:rPr sz="1800" b="1" i="0">
                <a:solidFill>
                  <a:srgbClr val="BC8CFF"/>
                </a:solidFill>
              </a:rPr>
              <a:t>Trust</a:t>
            </a:r>
          </a:p>
        </p:txBody>
      </p:sp>
      <p:sp>
        <p:nvSpPr>
          <p:cNvPr id="30" name="TextBox 29"/>
          <p:cNvSpPr txBox="1"/>
          <p:nvPr/>
        </p:nvSpPr>
        <p:spPr>
          <a:xfrm>
            <a:off x="4206240" y="4526279"/>
            <a:ext cx="3154680" cy="1188720"/>
          </a:xfrm>
          <a:prstGeom prst="rect">
            <a:avLst/>
          </a:prstGeom>
          <a:noFill/>
        </p:spPr>
        <p:txBody>
          <a:bodyPr wrap="square">
            <a:spAutoFit/>
          </a:bodyPr>
          <a:lstStyle/>
          <a:p>
            <a:pPr algn="l"/>
            <a:r>
              <a:rPr sz="1200" b="0" i="1">
                <a:solidFill>
                  <a:srgbClr val="8B949E"/>
                </a:solidFill>
              </a:rPr>
              <a:t>Hi, this is your friend Alex.
I need your help urgently.</a:t>
            </a:r>
          </a:p>
        </p:txBody>
      </p:sp>
      <p:sp>
        <p:nvSpPr>
          <p:cNvPr id="31" name="Rectangle 30"/>
          <p:cNvSpPr/>
          <p:nvPr/>
        </p:nvSpPr>
        <p:spPr>
          <a:xfrm>
            <a:off x="7680960" y="3749039"/>
            <a:ext cx="3429000" cy="2103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680960" y="3749039"/>
            <a:ext cx="3429000" cy="64008"/>
          </a:xfrm>
          <a:prstGeom prst="rect">
            <a:avLst/>
          </a:prstGeom>
          <a:solidFill>
            <a:srgbClr val="FF7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818120" y="3886200"/>
            <a:ext cx="731520" cy="640080"/>
          </a:xfrm>
          <a:prstGeom prst="rect">
            <a:avLst/>
          </a:prstGeom>
          <a:noFill/>
        </p:spPr>
        <p:txBody>
          <a:bodyPr wrap="square">
            <a:spAutoFit/>
          </a:bodyPr>
          <a:lstStyle/>
          <a:p>
            <a:pPr algn="l"/>
            <a:r>
              <a:rPr sz="2800" b="0" i="0">
                <a:solidFill>
                  <a:srgbClr val="FFFFFF"/>
                </a:solidFill>
              </a:rPr>
              <a:t>👔</a:t>
            </a:r>
          </a:p>
        </p:txBody>
      </p:sp>
      <p:sp>
        <p:nvSpPr>
          <p:cNvPr id="34" name="TextBox 33"/>
          <p:cNvSpPr txBox="1"/>
          <p:nvPr/>
        </p:nvSpPr>
        <p:spPr>
          <a:xfrm>
            <a:off x="8595360" y="3913631"/>
            <a:ext cx="2377440" cy="457200"/>
          </a:xfrm>
          <a:prstGeom prst="rect">
            <a:avLst/>
          </a:prstGeom>
          <a:noFill/>
        </p:spPr>
        <p:txBody>
          <a:bodyPr wrap="square">
            <a:spAutoFit/>
          </a:bodyPr>
          <a:lstStyle/>
          <a:p>
            <a:pPr algn="l"/>
            <a:r>
              <a:rPr sz="1800" b="1" i="0">
                <a:solidFill>
                  <a:srgbClr val="FF7B72"/>
                </a:solidFill>
              </a:rPr>
              <a:t>Authority</a:t>
            </a:r>
          </a:p>
        </p:txBody>
      </p:sp>
      <p:sp>
        <p:nvSpPr>
          <p:cNvPr id="35" name="TextBox 34"/>
          <p:cNvSpPr txBox="1"/>
          <p:nvPr/>
        </p:nvSpPr>
        <p:spPr>
          <a:xfrm>
            <a:off x="7818120" y="4526279"/>
            <a:ext cx="3154680" cy="1188720"/>
          </a:xfrm>
          <a:prstGeom prst="rect">
            <a:avLst/>
          </a:prstGeom>
          <a:noFill/>
        </p:spPr>
        <p:txBody>
          <a:bodyPr wrap="square">
            <a:spAutoFit/>
          </a:bodyPr>
          <a:lstStyle/>
          <a:p>
            <a:pPr algn="l"/>
            <a:r>
              <a:rPr sz="1200" b="0" i="1">
                <a:solidFill>
                  <a:srgbClr val="8B949E"/>
                </a:solidFill>
              </a:rPr>
              <a:t>This is your IT department.
Provide your credentials now.</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a:solidFill>
                  <a:srgbClr val="FFFFFF"/>
                </a:solidFill>
              </a:rPr>
              <a:t>🛡️  Best Practices to Stay Safe</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7 habits that keep you protected</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502920" cy="56692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472184"/>
            <a:ext cx="502920" cy="457200"/>
          </a:xfrm>
          <a:prstGeom prst="rect">
            <a:avLst/>
          </a:prstGeom>
          <a:noFill/>
        </p:spPr>
        <p:txBody>
          <a:bodyPr wrap="square">
            <a:spAutoFit/>
          </a:bodyPr>
          <a:lstStyle/>
          <a:p>
            <a:pPr algn="ctr"/>
            <a:r>
              <a:rPr sz="1800" b="1" i="0">
                <a:solidFill>
                  <a:srgbClr val="0D1117"/>
                </a:solidFill>
              </a:rPr>
              <a:t>1</a:t>
            </a:r>
          </a:p>
        </p:txBody>
      </p:sp>
      <p:sp>
        <p:nvSpPr>
          <p:cNvPr id="8" name="Rectangle 7"/>
          <p:cNvSpPr/>
          <p:nvPr/>
        </p:nvSpPr>
        <p:spPr>
          <a:xfrm>
            <a:off x="1051560" y="1417320"/>
            <a:ext cx="10680192" cy="566928"/>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1453896"/>
            <a:ext cx="4114800" cy="310896"/>
          </a:xfrm>
          <a:prstGeom prst="rect">
            <a:avLst/>
          </a:prstGeom>
          <a:noFill/>
        </p:spPr>
        <p:txBody>
          <a:bodyPr wrap="square">
            <a:spAutoFit/>
          </a:bodyPr>
          <a:lstStyle/>
          <a:p>
            <a:pPr algn="l"/>
            <a:r>
              <a:rPr sz="1400" b="1" i="0">
                <a:solidFill>
                  <a:srgbClr val="FFFFFF"/>
                </a:solidFill>
              </a:rPr>
              <a:t>Never click suspicious links</a:t>
            </a:r>
          </a:p>
        </p:txBody>
      </p:sp>
      <p:sp>
        <p:nvSpPr>
          <p:cNvPr id="10" name="TextBox 9"/>
          <p:cNvSpPr txBox="1"/>
          <p:nvPr/>
        </p:nvSpPr>
        <p:spPr>
          <a:xfrm>
            <a:off x="5440680" y="1472184"/>
            <a:ext cx="6217920" cy="457200"/>
          </a:xfrm>
          <a:prstGeom prst="rect">
            <a:avLst/>
          </a:prstGeom>
          <a:noFill/>
        </p:spPr>
        <p:txBody>
          <a:bodyPr wrap="square">
            <a:spAutoFit/>
          </a:bodyPr>
          <a:lstStyle/>
          <a:p>
            <a:pPr algn="l"/>
            <a:r>
              <a:rPr sz="1200" b="0" i="0">
                <a:solidFill>
                  <a:srgbClr val="8B949E"/>
                </a:solidFill>
              </a:rPr>
              <a:t>Hover to preview the real URL first. Go to the site directly if unsure.</a:t>
            </a:r>
          </a:p>
        </p:txBody>
      </p:sp>
      <p:sp>
        <p:nvSpPr>
          <p:cNvPr id="11" name="Rectangle 10"/>
          <p:cNvSpPr/>
          <p:nvPr/>
        </p:nvSpPr>
        <p:spPr>
          <a:xfrm>
            <a:off x="457200" y="2112264"/>
            <a:ext cx="502920" cy="56692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167128"/>
            <a:ext cx="502920" cy="457200"/>
          </a:xfrm>
          <a:prstGeom prst="rect">
            <a:avLst/>
          </a:prstGeom>
          <a:noFill/>
        </p:spPr>
        <p:txBody>
          <a:bodyPr wrap="square">
            <a:spAutoFit/>
          </a:bodyPr>
          <a:lstStyle/>
          <a:p>
            <a:pPr algn="ctr"/>
            <a:r>
              <a:rPr sz="1800" b="1" i="0">
                <a:solidFill>
                  <a:srgbClr val="0D1117"/>
                </a:solidFill>
              </a:rPr>
              <a:t>2</a:t>
            </a:r>
          </a:p>
        </p:txBody>
      </p:sp>
      <p:sp>
        <p:nvSpPr>
          <p:cNvPr id="13" name="Rectangle 12"/>
          <p:cNvSpPr/>
          <p:nvPr/>
        </p:nvSpPr>
        <p:spPr>
          <a:xfrm>
            <a:off x="1051560" y="2112264"/>
            <a:ext cx="10680192" cy="566928"/>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88720" y="2148840"/>
            <a:ext cx="4114800" cy="310896"/>
          </a:xfrm>
          <a:prstGeom prst="rect">
            <a:avLst/>
          </a:prstGeom>
          <a:noFill/>
        </p:spPr>
        <p:txBody>
          <a:bodyPr wrap="square">
            <a:spAutoFit/>
          </a:bodyPr>
          <a:lstStyle/>
          <a:p>
            <a:pPr algn="l"/>
            <a:r>
              <a:rPr sz="1400" b="1" i="0">
                <a:solidFill>
                  <a:srgbClr val="FFFFFF"/>
                </a:solidFill>
              </a:rPr>
              <a:t>Verify the sender</a:t>
            </a:r>
          </a:p>
        </p:txBody>
      </p:sp>
      <p:sp>
        <p:nvSpPr>
          <p:cNvPr id="15" name="TextBox 14"/>
          <p:cNvSpPr txBox="1"/>
          <p:nvPr/>
        </p:nvSpPr>
        <p:spPr>
          <a:xfrm>
            <a:off x="5440680" y="2167128"/>
            <a:ext cx="6217920" cy="457200"/>
          </a:xfrm>
          <a:prstGeom prst="rect">
            <a:avLst/>
          </a:prstGeom>
          <a:noFill/>
        </p:spPr>
        <p:txBody>
          <a:bodyPr wrap="square">
            <a:spAutoFit/>
          </a:bodyPr>
          <a:lstStyle/>
          <a:p>
            <a:pPr algn="l"/>
            <a:r>
              <a:rPr sz="1200" b="0" i="0">
                <a:solidFill>
                  <a:srgbClr val="8B949E"/>
                </a:solidFill>
              </a:rPr>
              <a:t>Check the actual email address — not just the display name.</a:t>
            </a:r>
          </a:p>
        </p:txBody>
      </p:sp>
      <p:sp>
        <p:nvSpPr>
          <p:cNvPr id="16" name="Rectangle 15"/>
          <p:cNvSpPr/>
          <p:nvPr/>
        </p:nvSpPr>
        <p:spPr>
          <a:xfrm>
            <a:off x="457200" y="2807208"/>
            <a:ext cx="502920" cy="56692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862072"/>
            <a:ext cx="502920" cy="457200"/>
          </a:xfrm>
          <a:prstGeom prst="rect">
            <a:avLst/>
          </a:prstGeom>
          <a:noFill/>
        </p:spPr>
        <p:txBody>
          <a:bodyPr wrap="square">
            <a:spAutoFit/>
          </a:bodyPr>
          <a:lstStyle/>
          <a:p>
            <a:pPr algn="ctr"/>
            <a:r>
              <a:rPr sz="1800" b="1" i="0">
                <a:solidFill>
                  <a:srgbClr val="0D1117"/>
                </a:solidFill>
              </a:rPr>
              <a:t>3</a:t>
            </a:r>
          </a:p>
        </p:txBody>
      </p:sp>
      <p:sp>
        <p:nvSpPr>
          <p:cNvPr id="18" name="Rectangle 17"/>
          <p:cNvSpPr/>
          <p:nvPr/>
        </p:nvSpPr>
        <p:spPr>
          <a:xfrm>
            <a:off x="1051560" y="2807208"/>
            <a:ext cx="10680192" cy="566928"/>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2843784"/>
            <a:ext cx="4114800" cy="310896"/>
          </a:xfrm>
          <a:prstGeom prst="rect">
            <a:avLst/>
          </a:prstGeom>
          <a:noFill/>
        </p:spPr>
        <p:txBody>
          <a:bodyPr wrap="square">
            <a:spAutoFit/>
          </a:bodyPr>
          <a:lstStyle/>
          <a:p>
            <a:pPr algn="l"/>
            <a:r>
              <a:rPr sz="1400" b="1" i="0">
                <a:solidFill>
                  <a:srgbClr val="FFFFFF"/>
                </a:solidFill>
              </a:rPr>
              <a:t>Never share passwords or OTP codes</a:t>
            </a:r>
          </a:p>
        </p:txBody>
      </p:sp>
      <p:sp>
        <p:nvSpPr>
          <p:cNvPr id="20" name="TextBox 19"/>
          <p:cNvSpPr txBox="1"/>
          <p:nvPr/>
        </p:nvSpPr>
        <p:spPr>
          <a:xfrm>
            <a:off x="5440680" y="2862072"/>
            <a:ext cx="6217920" cy="457200"/>
          </a:xfrm>
          <a:prstGeom prst="rect">
            <a:avLst/>
          </a:prstGeom>
          <a:noFill/>
        </p:spPr>
        <p:txBody>
          <a:bodyPr wrap="square">
            <a:spAutoFit/>
          </a:bodyPr>
          <a:lstStyle/>
          <a:p>
            <a:pPr algn="l"/>
            <a:r>
              <a:rPr sz="1200" b="0" i="0">
                <a:solidFill>
                  <a:srgbClr val="8B949E"/>
                </a:solidFill>
              </a:rPr>
              <a:t>No legitimate company will ever ask for these via message or call.</a:t>
            </a:r>
          </a:p>
        </p:txBody>
      </p:sp>
      <p:sp>
        <p:nvSpPr>
          <p:cNvPr id="21" name="Rectangle 20"/>
          <p:cNvSpPr/>
          <p:nvPr/>
        </p:nvSpPr>
        <p:spPr>
          <a:xfrm>
            <a:off x="457200" y="3502152"/>
            <a:ext cx="502920" cy="56692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557016"/>
            <a:ext cx="502920" cy="457200"/>
          </a:xfrm>
          <a:prstGeom prst="rect">
            <a:avLst/>
          </a:prstGeom>
          <a:noFill/>
        </p:spPr>
        <p:txBody>
          <a:bodyPr wrap="square">
            <a:spAutoFit/>
          </a:bodyPr>
          <a:lstStyle/>
          <a:p>
            <a:pPr algn="ctr"/>
            <a:r>
              <a:rPr sz="1800" b="1" i="0">
                <a:solidFill>
                  <a:srgbClr val="0D1117"/>
                </a:solidFill>
              </a:rPr>
              <a:t>4</a:t>
            </a:r>
          </a:p>
        </p:txBody>
      </p:sp>
      <p:sp>
        <p:nvSpPr>
          <p:cNvPr id="23" name="Rectangle 22"/>
          <p:cNvSpPr/>
          <p:nvPr/>
        </p:nvSpPr>
        <p:spPr>
          <a:xfrm>
            <a:off x="1051560" y="3502152"/>
            <a:ext cx="10680192" cy="566928"/>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88720" y="3538728"/>
            <a:ext cx="4114800" cy="310896"/>
          </a:xfrm>
          <a:prstGeom prst="rect">
            <a:avLst/>
          </a:prstGeom>
          <a:noFill/>
        </p:spPr>
        <p:txBody>
          <a:bodyPr wrap="square">
            <a:spAutoFit/>
          </a:bodyPr>
          <a:lstStyle/>
          <a:p>
            <a:pPr algn="l"/>
            <a:r>
              <a:rPr sz="1400" b="1" i="0">
                <a:solidFill>
                  <a:srgbClr val="FFFFFF"/>
                </a:solidFill>
              </a:rPr>
              <a:t>Use Multi-Factor Authentication</a:t>
            </a:r>
          </a:p>
        </p:txBody>
      </p:sp>
      <p:sp>
        <p:nvSpPr>
          <p:cNvPr id="25" name="TextBox 24"/>
          <p:cNvSpPr txBox="1"/>
          <p:nvPr/>
        </p:nvSpPr>
        <p:spPr>
          <a:xfrm>
            <a:off x="5440680" y="3557016"/>
            <a:ext cx="6217920" cy="457200"/>
          </a:xfrm>
          <a:prstGeom prst="rect">
            <a:avLst/>
          </a:prstGeom>
          <a:noFill/>
        </p:spPr>
        <p:txBody>
          <a:bodyPr wrap="square">
            <a:spAutoFit/>
          </a:bodyPr>
          <a:lstStyle/>
          <a:p>
            <a:pPr algn="l"/>
            <a:r>
              <a:rPr sz="1200" b="0" i="0">
                <a:solidFill>
                  <a:srgbClr val="8B949E"/>
                </a:solidFill>
              </a:rPr>
              <a:t>MFA adds a critical second layer — even if your password is stolen.</a:t>
            </a:r>
          </a:p>
        </p:txBody>
      </p:sp>
      <p:sp>
        <p:nvSpPr>
          <p:cNvPr id="26" name="Rectangle 25"/>
          <p:cNvSpPr/>
          <p:nvPr/>
        </p:nvSpPr>
        <p:spPr>
          <a:xfrm>
            <a:off x="457200" y="4197096"/>
            <a:ext cx="502920" cy="56692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4251959"/>
            <a:ext cx="502920" cy="457200"/>
          </a:xfrm>
          <a:prstGeom prst="rect">
            <a:avLst/>
          </a:prstGeom>
          <a:noFill/>
        </p:spPr>
        <p:txBody>
          <a:bodyPr wrap="square">
            <a:spAutoFit/>
          </a:bodyPr>
          <a:lstStyle/>
          <a:p>
            <a:pPr algn="ctr"/>
            <a:r>
              <a:rPr sz="1800" b="1" i="0">
                <a:solidFill>
                  <a:srgbClr val="0D1117"/>
                </a:solidFill>
              </a:rPr>
              <a:t>5</a:t>
            </a:r>
          </a:p>
        </p:txBody>
      </p:sp>
      <p:sp>
        <p:nvSpPr>
          <p:cNvPr id="28" name="Rectangle 27"/>
          <p:cNvSpPr/>
          <p:nvPr/>
        </p:nvSpPr>
        <p:spPr>
          <a:xfrm>
            <a:off x="1051560" y="4197096"/>
            <a:ext cx="10680192" cy="566928"/>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88720" y="4233672"/>
            <a:ext cx="4114800" cy="310896"/>
          </a:xfrm>
          <a:prstGeom prst="rect">
            <a:avLst/>
          </a:prstGeom>
          <a:noFill/>
        </p:spPr>
        <p:txBody>
          <a:bodyPr wrap="square">
            <a:spAutoFit/>
          </a:bodyPr>
          <a:lstStyle/>
          <a:p>
            <a:pPr algn="l"/>
            <a:r>
              <a:rPr sz="1400" b="1" i="0">
                <a:solidFill>
                  <a:srgbClr val="FFFFFF"/>
                </a:solidFill>
              </a:rPr>
              <a:t>Check URLs before logging in</a:t>
            </a:r>
          </a:p>
        </p:txBody>
      </p:sp>
      <p:sp>
        <p:nvSpPr>
          <p:cNvPr id="30" name="TextBox 29"/>
          <p:cNvSpPr txBox="1"/>
          <p:nvPr/>
        </p:nvSpPr>
        <p:spPr>
          <a:xfrm>
            <a:off x="5440680" y="4251959"/>
            <a:ext cx="6217920" cy="457200"/>
          </a:xfrm>
          <a:prstGeom prst="rect">
            <a:avLst/>
          </a:prstGeom>
          <a:noFill/>
        </p:spPr>
        <p:txBody>
          <a:bodyPr wrap="square">
            <a:spAutoFit/>
          </a:bodyPr>
          <a:lstStyle/>
          <a:p>
            <a:pPr algn="l"/>
            <a:r>
              <a:rPr sz="1200" b="0" i="0">
                <a:solidFill>
                  <a:srgbClr val="8B949E"/>
                </a:solidFill>
              </a:rPr>
              <a:t>Look at the address bar carefully. Type the address yourself when possible.</a:t>
            </a:r>
          </a:p>
        </p:txBody>
      </p:sp>
      <p:sp>
        <p:nvSpPr>
          <p:cNvPr id="31" name="Rectangle 30"/>
          <p:cNvSpPr/>
          <p:nvPr/>
        </p:nvSpPr>
        <p:spPr>
          <a:xfrm>
            <a:off x="457200" y="4892040"/>
            <a:ext cx="502920" cy="56692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200" y="4946903"/>
            <a:ext cx="502920" cy="457200"/>
          </a:xfrm>
          <a:prstGeom prst="rect">
            <a:avLst/>
          </a:prstGeom>
          <a:noFill/>
        </p:spPr>
        <p:txBody>
          <a:bodyPr wrap="square">
            <a:spAutoFit/>
          </a:bodyPr>
          <a:lstStyle/>
          <a:p>
            <a:pPr algn="ctr"/>
            <a:r>
              <a:rPr sz="1800" b="1" i="0">
                <a:solidFill>
                  <a:srgbClr val="0D1117"/>
                </a:solidFill>
              </a:rPr>
              <a:t>6</a:t>
            </a:r>
          </a:p>
        </p:txBody>
      </p:sp>
      <p:sp>
        <p:nvSpPr>
          <p:cNvPr id="33" name="Rectangle 32"/>
          <p:cNvSpPr/>
          <p:nvPr/>
        </p:nvSpPr>
        <p:spPr>
          <a:xfrm>
            <a:off x="1051560" y="4892040"/>
            <a:ext cx="10680192" cy="566928"/>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88720" y="4928616"/>
            <a:ext cx="4114800" cy="310896"/>
          </a:xfrm>
          <a:prstGeom prst="rect">
            <a:avLst/>
          </a:prstGeom>
          <a:noFill/>
        </p:spPr>
        <p:txBody>
          <a:bodyPr wrap="square">
            <a:spAutoFit/>
          </a:bodyPr>
          <a:lstStyle/>
          <a:p>
            <a:pPr algn="l"/>
            <a:r>
              <a:rPr sz="1400" b="1" i="0">
                <a:solidFill>
                  <a:srgbClr val="FFFFFF"/>
                </a:solidFill>
              </a:rPr>
              <a:t>Report suspicious messages</a:t>
            </a:r>
          </a:p>
        </p:txBody>
      </p:sp>
      <p:sp>
        <p:nvSpPr>
          <p:cNvPr id="35" name="TextBox 34"/>
          <p:cNvSpPr txBox="1"/>
          <p:nvPr/>
        </p:nvSpPr>
        <p:spPr>
          <a:xfrm>
            <a:off x="5440680" y="4946903"/>
            <a:ext cx="6217920" cy="457200"/>
          </a:xfrm>
          <a:prstGeom prst="rect">
            <a:avLst/>
          </a:prstGeom>
          <a:noFill/>
        </p:spPr>
        <p:txBody>
          <a:bodyPr wrap="square">
            <a:spAutoFit/>
          </a:bodyPr>
          <a:lstStyle/>
          <a:p>
            <a:pPr algn="l"/>
            <a:r>
              <a:rPr sz="1200" b="0" i="0">
                <a:solidFill>
                  <a:srgbClr val="8B949E"/>
                </a:solidFill>
              </a:rPr>
              <a:t>Forward to your IT/security team or mark as phishing in your email app.</a:t>
            </a:r>
          </a:p>
        </p:txBody>
      </p:sp>
      <p:sp>
        <p:nvSpPr>
          <p:cNvPr id="36" name="Rectangle 35"/>
          <p:cNvSpPr/>
          <p:nvPr/>
        </p:nvSpPr>
        <p:spPr>
          <a:xfrm>
            <a:off x="457200" y="5586984"/>
            <a:ext cx="502920" cy="56692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7200" y="5641848"/>
            <a:ext cx="502920" cy="457200"/>
          </a:xfrm>
          <a:prstGeom prst="rect">
            <a:avLst/>
          </a:prstGeom>
          <a:noFill/>
        </p:spPr>
        <p:txBody>
          <a:bodyPr wrap="square">
            <a:spAutoFit/>
          </a:bodyPr>
          <a:lstStyle/>
          <a:p>
            <a:pPr algn="ctr"/>
            <a:r>
              <a:rPr sz="1800" b="1" i="0">
                <a:solidFill>
                  <a:srgbClr val="0D1117"/>
                </a:solidFill>
              </a:rPr>
              <a:t>7</a:t>
            </a:r>
          </a:p>
        </p:txBody>
      </p:sp>
      <p:sp>
        <p:nvSpPr>
          <p:cNvPr id="38" name="Rectangle 37"/>
          <p:cNvSpPr/>
          <p:nvPr/>
        </p:nvSpPr>
        <p:spPr>
          <a:xfrm>
            <a:off x="1051560" y="5586984"/>
            <a:ext cx="10680192" cy="566928"/>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188720" y="5623560"/>
            <a:ext cx="4114800" cy="310896"/>
          </a:xfrm>
          <a:prstGeom prst="rect">
            <a:avLst/>
          </a:prstGeom>
          <a:noFill/>
        </p:spPr>
        <p:txBody>
          <a:bodyPr wrap="square">
            <a:spAutoFit/>
          </a:bodyPr>
          <a:lstStyle/>
          <a:p>
            <a:pPr algn="l"/>
            <a:r>
              <a:rPr sz="1400" b="1" i="0">
                <a:solidFill>
                  <a:srgbClr val="FFFFFF"/>
                </a:solidFill>
              </a:rPr>
              <a:t>Keep software and browsers updated</a:t>
            </a:r>
          </a:p>
        </p:txBody>
      </p:sp>
      <p:sp>
        <p:nvSpPr>
          <p:cNvPr id="40" name="TextBox 39"/>
          <p:cNvSpPr txBox="1"/>
          <p:nvPr/>
        </p:nvSpPr>
        <p:spPr>
          <a:xfrm>
            <a:off x="5440680" y="5641848"/>
            <a:ext cx="6217920" cy="457200"/>
          </a:xfrm>
          <a:prstGeom prst="rect">
            <a:avLst/>
          </a:prstGeom>
          <a:noFill/>
        </p:spPr>
        <p:txBody>
          <a:bodyPr wrap="square">
            <a:spAutoFit/>
          </a:bodyPr>
          <a:lstStyle/>
          <a:p>
            <a:pPr algn="l"/>
            <a:r>
              <a:rPr sz="1200" b="0" i="0">
                <a:solidFill>
                  <a:srgbClr val="8B949E"/>
                </a:solidFill>
              </a:rPr>
              <a:t>Updates patch security vulnerabilities attackers actively exploit.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a:solidFill>
                  <a:srgbClr val="FFFFFF"/>
                </a:solidFill>
              </a:rPr>
              <a:t>⚠️  Real-World Phishing Examples</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Learn to recognize these common attack patterns</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3657600" cy="5074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417320"/>
            <a:ext cx="3657600" cy="64008"/>
          </a:xfrm>
          <a:prstGeom prst="rect">
            <a:avLst/>
          </a:prstGeom>
          <a:solidFill>
            <a:srgbClr val="F85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508760"/>
            <a:ext cx="640080" cy="548640"/>
          </a:xfrm>
          <a:prstGeom prst="rect">
            <a:avLst/>
          </a:prstGeom>
          <a:noFill/>
        </p:spPr>
        <p:txBody>
          <a:bodyPr wrap="square">
            <a:spAutoFit/>
          </a:bodyPr>
          <a:lstStyle/>
          <a:p>
            <a:pPr algn="l"/>
            <a:r>
              <a:rPr sz="2400" b="0" i="0">
                <a:solidFill>
                  <a:srgbClr val="FFFFFF"/>
                </a:solidFill>
              </a:rPr>
              <a:t>🏦</a:t>
            </a:r>
          </a:p>
        </p:txBody>
      </p:sp>
      <p:sp>
        <p:nvSpPr>
          <p:cNvPr id="9" name="TextBox 8"/>
          <p:cNvSpPr txBox="1"/>
          <p:nvPr/>
        </p:nvSpPr>
        <p:spPr>
          <a:xfrm>
            <a:off x="1280160" y="1536192"/>
            <a:ext cx="2743200" cy="457200"/>
          </a:xfrm>
          <a:prstGeom prst="rect">
            <a:avLst/>
          </a:prstGeom>
          <a:noFill/>
        </p:spPr>
        <p:txBody>
          <a:bodyPr wrap="square">
            <a:spAutoFit/>
          </a:bodyPr>
          <a:lstStyle/>
          <a:p>
            <a:pPr algn="l"/>
            <a:r>
              <a:rPr sz="1500" b="1" i="0">
                <a:solidFill>
                  <a:srgbClr val="F85149"/>
                </a:solidFill>
              </a:rPr>
              <a:t>Fake Bank Email</a:t>
            </a:r>
          </a:p>
        </p:txBody>
      </p:sp>
      <p:sp>
        <p:nvSpPr>
          <p:cNvPr id="10" name="Rectangle 9"/>
          <p:cNvSpPr/>
          <p:nvPr/>
        </p:nvSpPr>
        <p:spPr>
          <a:xfrm>
            <a:off x="594360" y="2103120"/>
            <a:ext cx="3383280" cy="256032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194560"/>
            <a:ext cx="3200400" cy="2377440"/>
          </a:xfrm>
          <a:prstGeom prst="rect">
            <a:avLst/>
          </a:prstGeom>
          <a:noFill/>
        </p:spPr>
        <p:txBody>
          <a:bodyPr wrap="square">
            <a:spAutoFit/>
          </a:bodyPr>
          <a:lstStyle/>
          <a:p>
            <a:pPr algn="l"/>
            <a:r>
              <a:rPr sz="1100" b="0" i="1">
                <a:solidFill>
                  <a:srgbClr val="A5D6A7"/>
                </a:solidFill>
              </a:rPr>
              <a:t>Subject: URGENT — Your account is on hold!
Dear Valued Customer,
We detected suspicious activity. Click below to verify your identity within 24 hours or your account will be permanently suspended.
[Verify My Account]</a:t>
            </a:r>
          </a:p>
        </p:txBody>
      </p:sp>
      <p:sp>
        <p:nvSpPr>
          <p:cNvPr id="12" name="TextBox 11"/>
          <p:cNvSpPr txBox="1"/>
          <p:nvPr/>
        </p:nvSpPr>
        <p:spPr>
          <a:xfrm>
            <a:off x="594360" y="4754880"/>
            <a:ext cx="3383280" cy="731520"/>
          </a:xfrm>
          <a:prstGeom prst="rect">
            <a:avLst/>
          </a:prstGeom>
          <a:noFill/>
        </p:spPr>
        <p:txBody>
          <a:bodyPr wrap="square">
            <a:spAutoFit/>
          </a:bodyPr>
          <a:lstStyle/>
          <a:p>
            <a:pPr algn="l"/>
            <a:r>
              <a:rPr sz="1100" b="0" i="0">
                <a:solidFill>
                  <a:srgbClr val="F85149"/>
                </a:solidFill>
              </a:rPr>
              <a:t>⚠  Generic greeting  ·  Urgency/fear  ·  Suspicious link  ·  Threatens account closure</a:t>
            </a:r>
          </a:p>
        </p:txBody>
      </p:sp>
      <p:sp>
        <p:nvSpPr>
          <p:cNvPr id="13" name="Rectangle 12"/>
          <p:cNvSpPr/>
          <p:nvPr/>
        </p:nvSpPr>
        <p:spPr>
          <a:xfrm>
            <a:off x="4370832" y="1417320"/>
            <a:ext cx="3657600" cy="5074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70832" y="1417320"/>
            <a:ext cx="3657600" cy="64008"/>
          </a:xfrm>
          <a:prstGeom prst="rect">
            <a:avLst/>
          </a:prstGeom>
          <a:solidFill>
            <a:srgbClr val="E3B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07992" y="1508760"/>
            <a:ext cx="640080" cy="548640"/>
          </a:xfrm>
          <a:prstGeom prst="rect">
            <a:avLst/>
          </a:prstGeom>
          <a:noFill/>
        </p:spPr>
        <p:txBody>
          <a:bodyPr wrap="square">
            <a:spAutoFit/>
          </a:bodyPr>
          <a:lstStyle/>
          <a:p>
            <a:pPr algn="l"/>
            <a:r>
              <a:rPr sz="2400" b="0" i="0">
                <a:solidFill>
                  <a:srgbClr val="FFFFFF"/>
                </a:solidFill>
              </a:rPr>
              <a:t>📦</a:t>
            </a:r>
          </a:p>
        </p:txBody>
      </p:sp>
      <p:sp>
        <p:nvSpPr>
          <p:cNvPr id="16" name="TextBox 15"/>
          <p:cNvSpPr txBox="1"/>
          <p:nvPr/>
        </p:nvSpPr>
        <p:spPr>
          <a:xfrm>
            <a:off x="5193792" y="1536192"/>
            <a:ext cx="2743200" cy="457200"/>
          </a:xfrm>
          <a:prstGeom prst="rect">
            <a:avLst/>
          </a:prstGeom>
          <a:noFill/>
        </p:spPr>
        <p:txBody>
          <a:bodyPr wrap="square">
            <a:spAutoFit/>
          </a:bodyPr>
          <a:lstStyle/>
          <a:p>
            <a:pPr algn="l"/>
            <a:r>
              <a:rPr sz="1500" b="1" i="0">
                <a:solidFill>
                  <a:srgbClr val="E3B341"/>
                </a:solidFill>
              </a:rPr>
              <a:t>Fake Delivery SMS</a:t>
            </a:r>
          </a:p>
        </p:txBody>
      </p:sp>
      <p:sp>
        <p:nvSpPr>
          <p:cNvPr id="17" name="Rectangle 16"/>
          <p:cNvSpPr/>
          <p:nvPr/>
        </p:nvSpPr>
        <p:spPr>
          <a:xfrm>
            <a:off x="4507992" y="2103120"/>
            <a:ext cx="3383280" cy="256032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99432" y="2194560"/>
            <a:ext cx="3200400" cy="2377440"/>
          </a:xfrm>
          <a:prstGeom prst="rect">
            <a:avLst/>
          </a:prstGeom>
          <a:noFill/>
        </p:spPr>
        <p:txBody>
          <a:bodyPr wrap="square">
            <a:spAutoFit/>
          </a:bodyPr>
          <a:lstStyle/>
          <a:p>
            <a:pPr algn="l"/>
            <a:r>
              <a:rPr sz="1100" b="0" i="1">
                <a:solidFill>
                  <a:srgbClr val="A5D6A7"/>
                </a:solidFill>
              </a:rPr>
              <a:t>DHL: Your parcel is held at customs.
A small fee of $2.99 is required for release.
Pay here: bit.ly/dhl-fee-pay929</a:t>
            </a:r>
          </a:p>
        </p:txBody>
      </p:sp>
      <p:sp>
        <p:nvSpPr>
          <p:cNvPr id="19" name="TextBox 18"/>
          <p:cNvSpPr txBox="1"/>
          <p:nvPr/>
        </p:nvSpPr>
        <p:spPr>
          <a:xfrm>
            <a:off x="4507992" y="4754880"/>
            <a:ext cx="3383280" cy="731520"/>
          </a:xfrm>
          <a:prstGeom prst="rect">
            <a:avLst/>
          </a:prstGeom>
          <a:noFill/>
        </p:spPr>
        <p:txBody>
          <a:bodyPr wrap="square">
            <a:spAutoFit/>
          </a:bodyPr>
          <a:lstStyle/>
          <a:p>
            <a:pPr algn="l"/>
            <a:r>
              <a:rPr sz="1100" b="0" i="0">
                <a:solidFill>
                  <a:srgbClr val="F85149"/>
                </a:solidFill>
              </a:rPr>
              <a:t>⚠  Urgent small payment  ·  Shortened/suspicious URL  ·  Smishing via SMS</a:t>
            </a:r>
          </a:p>
        </p:txBody>
      </p:sp>
      <p:sp>
        <p:nvSpPr>
          <p:cNvPr id="20" name="Rectangle 19"/>
          <p:cNvSpPr/>
          <p:nvPr/>
        </p:nvSpPr>
        <p:spPr>
          <a:xfrm>
            <a:off x="8284464" y="1417320"/>
            <a:ext cx="3657600" cy="5074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84464" y="1417320"/>
            <a:ext cx="3657600" cy="6400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21624" y="1508760"/>
            <a:ext cx="640080" cy="548640"/>
          </a:xfrm>
          <a:prstGeom prst="rect">
            <a:avLst/>
          </a:prstGeom>
          <a:noFill/>
        </p:spPr>
        <p:txBody>
          <a:bodyPr wrap="square">
            <a:spAutoFit/>
          </a:bodyPr>
          <a:lstStyle/>
          <a:p>
            <a:pPr algn="l"/>
            <a:r>
              <a:rPr sz="2400" b="0" i="0">
                <a:solidFill>
                  <a:srgbClr val="FFFFFF"/>
                </a:solidFill>
              </a:rPr>
              <a:t>🔐</a:t>
            </a:r>
          </a:p>
        </p:txBody>
      </p:sp>
      <p:sp>
        <p:nvSpPr>
          <p:cNvPr id="23" name="TextBox 22"/>
          <p:cNvSpPr txBox="1"/>
          <p:nvPr/>
        </p:nvSpPr>
        <p:spPr>
          <a:xfrm>
            <a:off x="9107424" y="1536192"/>
            <a:ext cx="2743200" cy="457200"/>
          </a:xfrm>
          <a:prstGeom prst="rect">
            <a:avLst/>
          </a:prstGeom>
          <a:noFill/>
        </p:spPr>
        <p:txBody>
          <a:bodyPr wrap="square">
            <a:spAutoFit/>
          </a:bodyPr>
          <a:lstStyle/>
          <a:p>
            <a:pPr algn="l"/>
            <a:r>
              <a:rPr sz="1500" b="1" i="0">
                <a:solidFill>
                  <a:srgbClr val="58A6FF"/>
                </a:solidFill>
              </a:rPr>
              <a:t>Fake Login Page</a:t>
            </a:r>
          </a:p>
        </p:txBody>
      </p:sp>
      <p:sp>
        <p:nvSpPr>
          <p:cNvPr id="24" name="Rectangle 23"/>
          <p:cNvSpPr/>
          <p:nvPr/>
        </p:nvSpPr>
        <p:spPr>
          <a:xfrm>
            <a:off x="8421624" y="2103120"/>
            <a:ext cx="3383280" cy="256032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13064" y="2194560"/>
            <a:ext cx="3200400" cy="2377440"/>
          </a:xfrm>
          <a:prstGeom prst="rect">
            <a:avLst/>
          </a:prstGeom>
          <a:noFill/>
        </p:spPr>
        <p:txBody>
          <a:bodyPr wrap="square">
            <a:spAutoFit/>
          </a:bodyPr>
          <a:lstStyle/>
          <a:p>
            <a:pPr algn="l"/>
            <a:r>
              <a:rPr sz="1100" b="0" i="1">
                <a:solidFill>
                  <a:srgbClr val="A5D6A7"/>
                </a:solidFill>
              </a:rPr>
              <a:t>URL shown:  http://micros0ft-login.verify-account.net/signin
Page looks identical to Microsoft login page.
Username: ________
Password: ________</a:t>
            </a:r>
          </a:p>
        </p:txBody>
      </p:sp>
      <p:sp>
        <p:nvSpPr>
          <p:cNvPr id="26" name="TextBox 25"/>
          <p:cNvSpPr txBox="1"/>
          <p:nvPr/>
        </p:nvSpPr>
        <p:spPr>
          <a:xfrm>
            <a:off x="8421624" y="4754880"/>
            <a:ext cx="3383280" cy="731520"/>
          </a:xfrm>
          <a:prstGeom prst="rect">
            <a:avLst/>
          </a:prstGeom>
          <a:noFill/>
        </p:spPr>
        <p:txBody>
          <a:bodyPr wrap="square">
            <a:spAutoFit/>
          </a:bodyPr>
          <a:lstStyle/>
          <a:p>
            <a:pPr algn="l"/>
            <a:r>
              <a:rPr sz="1100" b="0" i="0">
                <a:solidFill>
                  <a:srgbClr val="F85149"/>
                </a:solidFill>
              </a:rPr>
              <a:t>⚠  Wrong domain (micros0ft)  ·  HTTP not HTTPS  ·  Lookalike design  ·  Credential harvester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a:solidFill>
                  <a:srgbClr val="FFFFFF"/>
                </a:solidFill>
              </a:rPr>
              <a:t>📝  Knowledge Check &amp; Summary</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Test what you have learned</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5486400" cy="265176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417320"/>
            <a:ext cx="457200" cy="2651760"/>
          </a:xfrm>
          <a:prstGeom prst="rect">
            <a:avLst/>
          </a:prstGeom>
          <a:solidFill>
            <a:srgbClr val="1A3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5488" y="2240280"/>
            <a:ext cx="420624" cy="548640"/>
          </a:xfrm>
          <a:prstGeom prst="rect">
            <a:avLst/>
          </a:prstGeom>
          <a:noFill/>
        </p:spPr>
        <p:txBody>
          <a:bodyPr wrap="square">
            <a:spAutoFit/>
          </a:bodyPr>
          <a:lstStyle/>
          <a:p>
            <a:pPr algn="ctr"/>
            <a:r>
              <a:rPr sz="1400" b="1" i="0">
                <a:solidFill>
                  <a:srgbClr val="58A6FF"/>
                </a:solidFill>
              </a:rPr>
              <a:t>Q1</a:t>
            </a:r>
          </a:p>
        </p:txBody>
      </p:sp>
      <p:sp>
        <p:nvSpPr>
          <p:cNvPr id="9" name="TextBox 8"/>
          <p:cNvSpPr txBox="1"/>
          <p:nvPr/>
        </p:nvSpPr>
        <p:spPr>
          <a:xfrm>
            <a:off x="1005840" y="1508760"/>
            <a:ext cx="4800600" cy="594360"/>
          </a:xfrm>
          <a:prstGeom prst="rect">
            <a:avLst/>
          </a:prstGeom>
          <a:noFill/>
        </p:spPr>
        <p:txBody>
          <a:bodyPr wrap="square">
            <a:spAutoFit/>
          </a:bodyPr>
          <a:lstStyle/>
          <a:p>
            <a:pPr algn="l"/>
            <a:r>
              <a:rPr sz="1300" b="1" i="0">
                <a:solidFill>
                  <a:srgbClr val="FFFFFF"/>
                </a:solidFill>
              </a:rPr>
              <a:t>What is phishing?</a:t>
            </a:r>
          </a:p>
        </p:txBody>
      </p:sp>
      <p:sp>
        <p:nvSpPr>
          <p:cNvPr id="10" name="TextBox 9"/>
          <p:cNvSpPr txBox="1"/>
          <p:nvPr/>
        </p:nvSpPr>
        <p:spPr>
          <a:xfrm>
            <a:off x="1005840" y="2148840"/>
            <a:ext cx="4800600" cy="1737360"/>
          </a:xfrm>
          <a:prstGeom prst="rect">
            <a:avLst/>
          </a:prstGeom>
          <a:noFill/>
        </p:spPr>
        <p:txBody>
          <a:bodyPr wrap="square">
            <a:spAutoFit/>
          </a:bodyPr>
          <a:lstStyle/>
          <a:p>
            <a:pPr algn="l"/>
            <a:r>
              <a:rPr sz="1100" b="0" i="0">
                <a:solidFill>
                  <a:srgbClr val="8B949E"/>
                </a:solidFill>
              </a:rPr>
              <a:t>A  A type of fishing sport
B  A cyber attack using deception to steal sensitive info  ✅
C  A software update
D  A backup process</a:t>
            </a:r>
          </a:p>
        </p:txBody>
      </p:sp>
      <p:sp>
        <p:nvSpPr>
          <p:cNvPr id="11" name="Rectangle 10"/>
          <p:cNvSpPr/>
          <p:nvPr/>
        </p:nvSpPr>
        <p:spPr>
          <a:xfrm>
            <a:off x="6245352" y="1417320"/>
            <a:ext cx="5486400" cy="265176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45352" y="1417320"/>
            <a:ext cx="457200" cy="2651760"/>
          </a:xfrm>
          <a:prstGeom prst="rect">
            <a:avLst/>
          </a:prstGeom>
          <a:solidFill>
            <a:srgbClr val="1A3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63640" y="2240280"/>
            <a:ext cx="420624" cy="548640"/>
          </a:xfrm>
          <a:prstGeom prst="rect">
            <a:avLst/>
          </a:prstGeom>
          <a:noFill/>
        </p:spPr>
        <p:txBody>
          <a:bodyPr wrap="square">
            <a:spAutoFit/>
          </a:bodyPr>
          <a:lstStyle/>
          <a:p>
            <a:pPr algn="ctr"/>
            <a:r>
              <a:rPr sz="1400" b="1" i="0">
                <a:solidFill>
                  <a:srgbClr val="58A6FF"/>
                </a:solidFill>
              </a:rPr>
              <a:t>Q2</a:t>
            </a:r>
          </a:p>
        </p:txBody>
      </p:sp>
      <p:sp>
        <p:nvSpPr>
          <p:cNvPr id="14" name="TextBox 13"/>
          <p:cNvSpPr txBox="1"/>
          <p:nvPr/>
        </p:nvSpPr>
        <p:spPr>
          <a:xfrm>
            <a:off x="6793992" y="1508760"/>
            <a:ext cx="4800600" cy="594360"/>
          </a:xfrm>
          <a:prstGeom prst="rect">
            <a:avLst/>
          </a:prstGeom>
          <a:noFill/>
        </p:spPr>
        <p:txBody>
          <a:bodyPr wrap="square">
            <a:spAutoFit/>
          </a:bodyPr>
          <a:lstStyle/>
          <a:p>
            <a:pPr algn="l"/>
            <a:r>
              <a:rPr sz="1300" b="1" i="0">
                <a:solidFill>
                  <a:srgbClr val="FFFFFF"/>
                </a:solidFill>
              </a:rPr>
              <a:t>Your bank emails you asking for your OTP code. What do you do?</a:t>
            </a:r>
          </a:p>
        </p:txBody>
      </p:sp>
      <p:sp>
        <p:nvSpPr>
          <p:cNvPr id="15" name="TextBox 14"/>
          <p:cNvSpPr txBox="1"/>
          <p:nvPr/>
        </p:nvSpPr>
        <p:spPr>
          <a:xfrm>
            <a:off x="6793992" y="2148840"/>
            <a:ext cx="4800600" cy="1737360"/>
          </a:xfrm>
          <a:prstGeom prst="rect">
            <a:avLst/>
          </a:prstGeom>
          <a:noFill/>
        </p:spPr>
        <p:txBody>
          <a:bodyPr wrap="square">
            <a:spAutoFit/>
          </a:bodyPr>
          <a:lstStyle/>
          <a:p>
            <a:pPr algn="l"/>
            <a:r>
              <a:rPr sz="1100" b="0" i="0">
                <a:solidFill>
                  <a:srgbClr val="8B949E"/>
                </a:solidFill>
              </a:rPr>
              <a:t>A  Send the code immediately
B  Ignore the email
C  Never share it — contact your bank directly  ✅
D  Forward the email to a friend</a:t>
            </a:r>
          </a:p>
        </p:txBody>
      </p:sp>
      <p:sp>
        <p:nvSpPr>
          <p:cNvPr id="16" name="Rectangle 15"/>
          <p:cNvSpPr/>
          <p:nvPr/>
        </p:nvSpPr>
        <p:spPr>
          <a:xfrm>
            <a:off x="457200" y="3749039"/>
            <a:ext cx="5486400" cy="265176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3749039"/>
            <a:ext cx="457200" cy="2651760"/>
          </a:xfrm>
          <a:prstGeom prst="rect">
            <a:avLst/>
          </a:prstGeom>
          <a:solidFill>
            <a:srgbClr val="1A3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8" y="4572000"/>
            <a:ext cx="420624" cy="548640"/>
          </a:xfrm>
          <a:prstGeom prst="rect">
            <a:avLst/>
          </a:prstGeom>
          <a:noFill/>
        </p:spPr>
        <p:txBody>
          <a:bodyPr wrap="square">
            <a:spAutoFit/>
          </a:bodyPr>
          <a:lstStyle/>
          <a:p>
            <a:pPr algn="ctr"/>
            <a:r>
              <a:rPr sz="1400" b="1" i="0">
                <a:solidFill>
                  <a:srgbClr val="58A6FF"/>
                </a:solidFill>
              </a:rPr>
              <a:t>Q3</a:t>
            </a:r>
          </a:p>
        </p:txBody>
      </p:sp>
      <p:sp>
        <p:nvSpPr>
          <p:cNvPr id="19" name="TextBox 18"/>
          <p:cNvSpPr txBox="1"/>
          <p:nvPr/>
        </p:nvSpPr>
        <p:spPr>
          <a:xfrm>
            <a:off x="1005840" y="3840479"/>
            <a:ext cx="4800600" cy="594360"/>
          </a:xfrm>
          <a:prstGeom prst="rect">
            <a:avLst/>
          </a:prstGeom>
          <a:noFill/>
        </p:spPr>
        <p:txBody>
          <a:bodyPr wrap="square">
            <a:spAutoFit/>
          </a:bodyPr>
          <a:lstStyle/>
          <a:p>
            <a:pPr algn="l"/>
            <a:r>
              <a:rPr sz="1300" b="1" i="0">
                <a:solidFill>
                  <a:srgbClr val="FFFFFF"/>
                </a:solidFill>
              </a:rPr>
              <a:t>True or False: HTTPS on a website means it is safe and legitimate.</a:t>
            </a:r>
          </a:p>
        </p:txBody>
      </p:sp>
      <p:sp>
        <p:nvSpPr>
          <p:cNvPr id="20" name="TextBox 19"/>
          <p:cNvSpPr txBox="1"/>
          <p:nvPr/>
        </p:nvSpPr>
        <p:spPr>
          <a:xfrm>
            <a:off x="1005840" y="4480559"/>
            <a:ext cx="4800600" cy="1737360"/>
          </a:xfrm>
          <a:prstGeom prst="rect">
            <a:avLst/>
          </a:prstGeom>
          <a:noFill/>
        </p:spPr>
        <p:txBody>
          <a:bodyPr wrap="square">
            <a:spAutoFit/>
          </a:bodyPr>
          <a:lstStyle/>
          <a:p>
            <a:pPr algn="l"/>
            <a:r>
              <a:rPr sz="1100" b="0" i="0">
                <a:solidFill>
                  <a:srgbClr val="8B949E"/>
                </a:solidFill>
              </a:rPr>
              <a:t>FALSE  ✅
HTTPS only means the connection is encrypted — scammers
can also use HTTPS on fake websites.</a:t>
            </a:r>
          </a:p>
        </p:txBody>
      </p:sp>
      <p:sp>
        <p:nvSpPr>
          <p:cNvPr id="21" name="Rectangle 20"/>
          <p:cNvSpPr/>
          <p:nvPr/>
        </p:nvSpPr>
        <p:spPr>
          <a:xfrm>
            <a:off x="6245352" y="3749039"/>
            <a:ext cx="5486400" cy="265176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45352" y="3749039"/>
            <a:ext cx="457200" cy="2651760"/>
          </a:xfrm>
          <a:prstGeom prst="rect">
            <a:avLst/>
          </a:prstGeom>
          <a:solidFill>
            <a:srgbClr val="1A3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63640" y="4572000"/>
            <a:ext cx="420624" cy="548640"/>
          </a:xfrm>
          <a:prstGeom prst="rect">
            <a:avLst/>
          </a:prstGeom>
          <a:noFill/>
        </p:spPr>
        <p:txBody>
          <a:bodyPr wrap="square">
            <a:spAutoFit/>
          </a:bodyPr>
          <a:lstStyle/>
          <a:p>
            <a:pPr algn="ctr"/>
            <a:r>
              <a:rPr sz="1400" b="1" i="0">
                <a:solidFill>
                  <a:srgbClr val="58A6FF"/>
                </a:solidFill>
              </a:rPr>
              <a:t>Q4</a:t>
            </a:r>
          </a:p>
        </p:txBody>
      </p:sp>
      <p:sp>
        <p:nvSpPr>
          <p:cNvPr id="24" name="TextBox 23"/>
          <p:cNvSpPr txBox="1"/>
          <p:nvPr/>
        </p:nvSpPr>
        <p:spPr>
          <a:xfrm>
            <a:off x="6793992" y="3840479"/>
            <a:ext cx="4800600" cy="594360"/>
          </a:xfrm>
          <a:prstGeom prst="rect">
            <a:avLst/>
          </a:prstGeom>
          <a:noFill/>
        </p:spPr>
        <p:txBody>
          <a:bodyPr wrap="square">
            <a:spAutoFit/>
          </a:bodyPr>
          <a:lstStyle/>
          <a:p>
            <a:pPr algn="l"/>
            <a:r>
              <a:rPr sz="1300" b="1" i="0">
                <a:solidFill>
                  <a:srgbClr val="FFFFFF"/>
                </a:solidFill>
              </a:rPr>
              <a:t>Which URL is a phishing attempt?</a:t>
            </a:r>
          </a:p>
        </p:txBody>
      </p:sp>
      <p:sp>
        <p:nvSpPr>
          <p:cNvPr id="25" name="TextBox 24"/>
          <p:cNvSpPr txBox="1"/>
          <p:nvPr/>
        </p:nvSpPr>
        <p:spPr>
          <a:xfrm>
            <a:off x="6793992" y="4480559"/>
            <a:ext cx="4800600" cy="1737360"/>
          </a:xfrm>
          <a:prstGeom prst="rect">
            <a:avLst/>
          </a:prstGeom>
          <a:noFill/>
        </p:spPr>
        <p:txBody>
          <a:bodyPr wrap="square">
            <a:spAutoFit/>
          </a:bodyPr>
          <a:lstStyle/>
          <a:p>
            <a:pPr algn="l"/>
            <a:r>
              <a:rPr sz="1100" b="0" i="0">
                <a:solidFill>
                  <a:srgbClr val="8B949E"/>
                </a:solidFill>
              </a:rPr>
              <a:t>A  https://www.paypal.com/signin
B  https://paypa1-secure-login.com/verify  ✅
C  https://www.amazon.com
D  https://mail.google.com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2097</Words>
  <Application>Microsoft Office PowerPoint</Application>
  <PresentationFormat>Custom</PresentationFormat>
  <Paragraphs>227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Abdelrhman Mustafa Ibrahim</cp:lastModifiedBy>
  <cp:revision>3</cp:revision>
  <dcterms:created xsi:type="dcterms:W3CDTF">2013-01-27T09:14:16Z</dcterms:created>
  <dcterms:modified xsi:type="dcterms:W3CDTF">2026-06-21T14:38:31Z</dcterms:modified>
  <cp:category/>
</cp:coreProperties>
</file>